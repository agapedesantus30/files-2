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2" r:id="rId4"/>
    <p:sldId id="263" r:id="rId5"/>
    <p:sldId id="271" r:id="rId6"/>
    <p:sldId id="258" r:id="rId7"/>
    <p:sldId id="277" r:id="rId8"/>
    <p:sldId id="281" r:id="rId9"/>
    <p:sldId id="264" r:id="rId10"/>
    <p:sldId id="265" r:id="rId11"/>
    <p:sldId id="278" r:id="rId12"/>
    <p:sldId id="279" r:id="rId13"/>
    <p:sldId id="280" r:id="rId14"/>
    <p:sldId id="259" r:id="rId15"/>
    <p:sldId id="275" r:id="rId16"/>
    <p:sldId id="266" r:id="rId17"/>
    <p:sldId id="276" r:id="rId18"/>
    <p:sldId id="284" r:id="rId19"/>
    <p:sldId id="260" r:id="rId20"/>
    <p:sldId id="272" r:id="rId21"/>
    <p:sldId id="268" r:id="rId22"/>
    <p:sldId id="274" r:id="rId23"/>
    <p:sldId id="283" r:id="rId24"/>
    <p:sldId id="261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262" autoAdjust="0"/>
  </p:normalViewPr>
  <p:slideViewPr>
    <p:cSldViewPr snapToGrid="0">
      <p:cViewPr varScale="1">
        <p:scale>
          <a:sx n="58" d="100"/>
          <a:sy n="58" d="100"/>
        </p:scale>
        <p:origin x="12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A5AE1-26F1-4861-8D86-25149C4E4C5E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39473-6D83-4081-BAAF-9214B518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0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9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business had minimum staffing and had to work with a certain budget so the team choose to use stored procedures to deliver a level of business logic complexity within the timeframe they had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chose to encapsulate and implement most of an application's business logic, using an interface made up of stored procedures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5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create a new table named </a:t>
            </a:r>
            <a:r>
              <a:rPr lang="en-US" dirty="0" err="1"/>
              <a:t>employees_audit</a:t>
            </a:r>
            <a:r>
              <a:rPr lang="en-US" dirty="0"/>
              <a:t> to keep the changes to the employees table: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create a </a:t>
            </a:r>
            <a:r>
              <a:rPr lang="en-US" dirty="0"/>
              <a:t>BEFORE UPDATE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trigger that is invoked before a change is made to the </a:t>
            </a:r>
            <a:r>
              <a:rPr lang="en-US" dirty="0"/>
              <a:t>employees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Inside the body of the trigger, we used the OLD keyword to access values of the columns </a:t>
            </a:r>
            <a:r>
              <a:rPr lang="en-US" dirty="0" err="1"/>
              <a:t>employeeNumber</a:t>
            </a:r>
            <a:r>
              <a:rPr lang="en-US" dirty="0"/>
              <a:t> and </a:t>
            </a:r>
            <a:r>
              <a:rPr lang="en-US" dirty="0" err="1"/>
              <a:t>lastname</a:t>
            </a:r>
            <a:r>
              <a:rPr lang="en-US" dirty="0"/>
              <a:t> of the row affected by the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8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Then, show all triggers in the current database by using the SHOW TRIGGERS statement: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75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that, we update a row in the employees table: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query the </a:t>
            </a:r>
            <a:r>
              <a:rPr lang="en-US" dirty="0"/>
              <a:t>employees_audit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table to check if the trigger was fired by the </a:t>
            </a:r>
            <a:r>
              <a:rPr lang="en-US" dirty="0"/>
              <a:t>UPDATE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statement: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trigger was automatically invoked and inserted a new row into the </a:t>
            </a:r>
            <a:r>
              <a:rPr lang="en-US" dirty="0"/>
              <a:t>employees_audit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procedure</a:t>
            </a:r>
          </a:p>
          <a:p>
            <a:r>
              <a:rPr lang="en-US" dirty="0"/>
              <a:t>DBMS will first search master then the user databases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72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85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mostly on simple queries because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simply called with its procedure name followed by () (without any parameters)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IN parameter is used to take a parameter as input such as an attribute.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OUT parameter is used to pass a parameter as output or display like the select operator, but implicitly (through a set value).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A combination of in and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96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row-level trigger is activated for each row that is inserted, updated, or deleted.  For example, if a table has 100 rows inserted, updated, or deleted, the trigger is automatically invoked 100 times for the 100 rows affected.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statement-level trigger is executed once for each transaction regardless of how many rows are inserted, updated, or deleted.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59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94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 does not provide any facilities to debug stored procedures like other enterprise database products such as Oracle and SQL 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74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39473-6D83-4081-BAAF-9214B518326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4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EAF1-2A9A-4326-81B1-B8B5AA90C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Stored Procedures and triggers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87D85-CECB-415B-9AA1-52423230A7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Agapitus Iboro, Trien Hong</a:t>
            </a:r>
          </a:p>
        </p:txBody>
      </p:sp>
    </p:spTree>
    <p:extLst>
      <p:ext uri="{BB962C8B-B14F-4D97-AF65-F5344CB8AC3E}">
        <p14:creationId xmlns:p14="http://schemas.microsoft.com/office/powerpoint/2010/main" val="344827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A4DE-1E35-45A0-96AE-63467B17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the topic</a:t>
            </a:r>
            <a:br>
              <a:rPr lang="en-US" dirty="0"/>
            </a:br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85CE-950F-4E81-A801-B17EC49DD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Stored procedure</a:t>
            </a:r>
          </a:p>
          <a:p>
            <a:r>
              <a:rPr lang="en-US" sz="2400" dirty="0"/>
              <a:t>This is sql code that you can save so it can be reused. </a:t>
            </a:r>
          </a:p>
          <a:p>
            <a:pPr marL="0" indent="0">
              <a:buNone/>
            </a:pPr>
            <a:r>
              <a:rPr lang="en-US" sz="2400" b="1" dirty="0"/>
              <a:t>Trigger</a:t>
            </a:r>
          </a:p>
          <a:p>
            <a:r>
              <a:rPr lang="en-US" sz="2400" dirty="0"/>
              <a:t>This is a database object that is associated with a table. It gets activated by another action.</a:t>
            </a:r>
          </a:p>
        </p:txBody>
      </p:sp>
    </p:spTree>
    <p:extLst>
      <p:ext uri="{BB962C8B-B14F-4D97-AF65-F5344CB8AC3E}">
        <p14:creationId xmlns:p14="http://schemas.microsoft.com/office/powerpoint/2010/main" val="31353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A4DE-1E35-45A0-96AE-63467B17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the topic</a:t>
            </a:r>
            <a:br>
              <a:rPr lang="en-US" dirty="0"/>
            </a:br>
            <a:r>
              <a:rPr lang="en-US" dirty="0"/>
              <a:t>Origin and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85CE-950F-4E81-A801-B17EC49DD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Stored procedure</a:t>
            </a:r>
          </a:p>
          <a:p>
            <a:r>
              <a:rPr lang="en-US" dirty="0"/>
              <a:t>Stored procedures got supported in MySQL 5.0.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Trigger</a:t>
            </a:r>
          </a:p>
          <a:p>
            <a:r>
              <a:rPr lang="en-US" sz="2200" dirty="0"/>
              <a:t>In MySQL 5.7, all triggers are FOR EACH ROW ; that is, the trigger is activated for each row that is inserted, updated, or deleted. MySQL 5.7 does not support triggers using FOR EACH STATEMENT</a:t>
            </a:r>
          </a:p>
        </p:txBody>
      </p:sp>
    </p:spTree>
    <p:extLst>
      <p:ext uri="{BB962C8B-B14F-4D97-AF65-F5344CB8AC3E}">
        <p14:creationId xmlns:p14="http://schemas.microsoft.com/office/powerpoint/2010/main" val="355588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A4DE-1E35-45A0-96AE-63467B17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85CE-950F-4E81-A801-B17EC49DD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Stored procedures Need or Role in the world</a:t>
            </a:r>
          </a:p>
          <a:p>
            <a:r>
              <a:rPr lang="en-US" dirty="0"/>
              <a:t>Stronger security</a:t>
            </a:r>
          </a:p>
          <a:p>
            <a:r>
              <a:rPr lang="en-US" dirty="0"/>
              <a:t>Reduced server/client network traffic</a:t>
            </a:r>
          </a:p>
          <a:p>
            <a:r>
              <a:rPr lang="en-US" dirty="0"/>
              <a:t>Reuse of code</a:t>
            </a:r>
          </a:p>
          <a:p>
            <a:r>
              <a:rPr lang="en-US" dirty="0"/>
              <a:t>Improved performance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92112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A4DE-1E35-45A0-96AE-63467B17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85CE-950F-4E81-A801-B17EC49DD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Triggers Need or Role in the world</a:t>
            </a:r>
          </a:p>
          <a:p>
            <a:r>
              <a:rPr lang="en-US" sz="2200" dirty="0"/>
              <a:t>Trigger is mostly used for maintaining the integrity of information on a database</a:t>
            </a:r>
          </a:p>
        </p:txBody>
      </p:sp>
    </p:spTree>
    <p:extLst>
      <p:ext uri="{BB962C8B-B14F-4D97-AF65-F5344CB8AC3E}">
        <p14:creationId xmlns:p14="http://schemas.microsoft.com/office/powerpoint/2010/main" val="404398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How Stored procedures work</a:t>
            </a:r>
          </a:p>
          <a:p>
            <a:pPr marL="0" indent="0">
              <a:buNone/>
            </a:pPr>
            <a:r>
              <a:rPr lang="en-US" dirty="0"/>
              <a:t>Since stored procedures are precompiled. </a:t>
            </a:r>
          </a:p>
          <a:p>
            <a:r>
              <a:rPr lang="en-US" dirty="0"/>
              <a:t>The first time you run a procedure, Adaptive Server's query processor analyzes it and prepares an execution plan that is ultimately stored in a </a:t>
            </a:r>
            <a:r>
              <a:rPr lang="en-US" b="1" dirty="0"/>
              <a:t>system table</a:t>
            </a:r>
            <a:r>
              <a:rPr lang="en-US" dirty="0"/>
              <a:t>.</a:t>
            </a:r>
          </a:p>
          <a:p>
            <a:r>
              <a:rPr lang="en-US" dirty="0"/>
              <a:t>Then Subsequently, the procedure is executed according to the stored plan.</a:t>
            </a:r>
          </a:p>
          <a:p>
            <a:r>
              <a:rPr lang="en-US" dirty="0"/>
              <a:t> Since most of the query processing work has already been performed, stored procedures execute almost instantly.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90891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How triggers work</a:t>
            </a:r>
          </a:p>
          <a:p>
            <a:r>
              <a:rPr lang="en-US" dirty="0"/>
              <a:t>A trigger is created to activate when a statement inserts, updates, or deletes rows in the associated table</a:t>
            </a:r>
          </a:p>
          <a:p>
            <a:r>
              <a:rPr lang="en-US" dirty="0"/>
              <a:t>MySQL triggers activate only for changes made to tables by SQL statements. This includes changes to base tables that underlie updatable views.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86449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/>
              <a:t>applications of triggers in industries</a:t>
            </a:r>
            <a:endParaRPr lang="en-US" sz="2100" dirty="0"/>
          </a:p>
          <a:p>
            <a:r>
              <a:rPr lang="en-US" sz="2100" dirty="0"/>
              <a:t>The purpose of this was to see if adding functionality to an existing trigger improves performance or if it's better to create a new trigger</a:t>
            </a:r>
          </a:p>
          <a:p>
            <a:r>
              <a:rPr lang="en-US" sz="2100" dirty="0"/>
              <a:t>So they ran a query to compare performance and resources usage between the two scenarios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  <a:defRPr/>
            </a:pPr>
            <a:r>
              <a:rPr lang="en-US" sz="2100" dirty="0"/>
              <a:t>First they created 3 tables with the same schema</a:t>
            </a:r>
          </a:p>
          <a:p>
            <a:r>
              <a:rPr lang="en-US" sz="2100" dirty="0"/>
              <a:t>Then they ran a test script six times for each case -- three times cleaning memory and three times without cleaning it</a:t>
            </a:r>
          </a:p>
          <a:p>
            <a:pPr marL="0" indent="0">
              <a:buNone/>
            </a:pPr>
            <a:r>
              <a:rPr lang="en-US" sz="2100" b="1" dirty="0"/>
              <a:t>The averages for CPU, reads, writes and duration were very close for all Options. In conclusion </a:t>
            </a:r>
            <a:r>
              <a:rPr lang="en-US" sz="2100" b="1" i="1" dirty="0"/>
              <a:t>There is no one "best solution."</a:t>
            </a:r>
            <a:endParaRPr lang="en-US" sz="21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13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applications of stored procedures in industries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 individual achieved businesses service level agreement by using a stored procedure</a:t>
            </a:r>
          </a:p>
        </p:txBody>
      </p:sp>
    </p:spTree>
    <p:extLst>
      <p:ext uri="{BB962C8B-B14F-4D97-AF65-F5344CB8AC3E}">
        <p14:creationId xmlns:p14="http://schemas.microsoft.com/office/powerpoint/2010/main" val="319945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8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130351"/>
            <a:ext cx="10151464" cy="10990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Applications of the topic</a:t>
            </a:r>
          </a:p>
        </p:txBody>
      </p:sp>
      <p:pic>
        <p:nvPicPr>
          <p:cNvPr id="30" name="Picture 22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>
            <a:off x="9595556" y="-1"/>
            <a:ext cx="2596444" cy="8727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50925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5305593"/>
            <a:ext cx="10151464" cy="60414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chemeClr val="tx1">
                    <a:lumMod val="50000"/>
                    <a:lumOff val="50000"/>
                  </a:schemeClr>
                </a:solidFill>
              </a:rPr>
              <a:t>Demonstration of stored procedures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9BF5135-BD08-4B78-B591-2DB228D4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953" y="643467"/>
            <a:ext cx="7224093" cy="31423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>
            <a:off x="7586661" y="3142319"/>
            <a:ext cx="4605339" cy="37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8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>
            <a:extLst>
              <a:ext uri="{FF2B5EF4-FFF2-40B4-BE49-F238E27FC236}">
                <a16:creationId xmlns:a16="http://schemas.microsoft.com/office/drawing/2014/main" id="{E1408BAF-1350-4BC5-9C72-82A08BB0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E67B53-E530-4CC6-B1E7-4CCC1FD6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68C6385-AF19-4CB9-BE39-5D655C3B0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6BE4FBEF-7878-4089-B7C3-592ECF84E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1" y="4026089"/>
            <a:ext cx="10916365" cy="13753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7688" y="5401435"/>
            <a:ext cx="9653792" cy="81480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chemeClr val="tx1">
                    <a:lumMod val="65000"/>
                    <a:lumOff val="35000"/>
                  </a:schemeClr>
                </a:solidFill>
              </a:rPr>
              <a:t>Demonstration of triggers</a:t>
            </a:r>
          </a:p>
        </p:txBody>
      </p:sp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CFF46C6-27ED-471D-9680-4B0CB5F46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11" y="1201194"/>
            <a:ext cx="5299920" cy="2655911"/>
          </a:xfrm>
          <a:prstGeom prst="rect">
            <a:avLst/>
          </a:prstGeom>
        </p:spPr>
      </p:pic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41F935-59F6-497E-AC11-61EBC7043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867" y="1269029"/>
            <a:ext cx="5299922" cy="2588075"/>
          </a:xfrm>
          <a:prstGeom prst="rect">
            <a:avLst/>
          </a:prstGeom>
        </p:spPr>
      </p:pic>
      <p:pic>
        <p:nvPicPr>
          <p:cNvPr id="49" name="Picture 42">
            <a:extLst>
              <a:ext uri="{FF2B5EF4-FFF2-40B4-BE49-F238E27FC236}">
                <a16:creationId xmlns:a16="http://schemas.microsoft.com/office/drawing/2014/main" id="{AD07B6DE-7663-4467-ABD7-8B76677D9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06"/>
          <a:stretch/>
        </p:blipFill>
        <p:spPr>
          <a:xfrm>
            <a:off x="0" y="-1"/>
            <a:ext cx="12192000" cy="2831912"/>
          </a:xfrm>
          <a:prstGeom prst="rect">
            <a:avLst/>
          </a:prstGeom>
        </p:spPr>
      </p:pic>
      <p:pic>
        <p:nvPicPr>
          <p:cNvPr id="50" name="Picture 44">
            <a:extLst>
              <a:ext uri="{FF2B5EF4-FFF2-40B4-BE49-F238E27FC236}">
                <a16:creationId xmlns:a16="http://schemas.microsoft.com/office/drawing/2014/main" id="{7140EF84-918C-4BAE-895D-6EED3719D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14" t="45274" b="-1"/>
          <a:stretch/>
        </p:blipFill>
        <p:spPr>
          <a:xfrm>
            <a:off x="8219138" y="3104866"/>
            <a:ext cx="3972862" cy="375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9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61" name="Rectangle 51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130351"/>
            <a:ext cx="10151464" cy="10990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Applications of the topic</a:t>
            </a:r>
          </a:p>
        </p:txBody>
      </p:sp>
      <p:pic>
        <p:nvPicPr>
          <p:cNvPr id="62" name="Picture 53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>
            <a:off x="9595556" y="-1"/>
            <a:ext cx="2596444" cy="872709"/>
          </a:xfrm>
          <a:prstGeom prst="rect">
            <a:avLst/>
          </a:prstGeom>
        </p:spPr>
      </p:pic>
      <p:pic>
        <p:nvPicPr>
          <p:cNvPr id="63" name="Picture 55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50925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5305593"/>
            <a:ext cx="10151464" cy="60414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chemeClr val="tx1">
                    <a:lumMod val="50000"/>
                    <a:lumOff val="50000"/>
                  </a:schemeClr>
                </a:solidFill>
              </a:rPr>
              <a:t>Demonstration of triggers</a:t>
            </a:r>
            <a:endParaRPr lang="en-US" sz="2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8BB6FB24-D1AF-4C74-BA5B-37410013D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74" y="901796"/>
            <a:ext cx="10364452" cy="262566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>
            <a:off x="7586661" y="3142319"/>
            <a:ext cx="4605339" cy="37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1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>
            <a:extLst>
              <a:ext uri="{FF2B5EF4-FFF2-40B4-BE49-F238E27FC236}">
                <a16:creationId xmlns:a16="http://schemas.microsoft.com/office/drawing/2014/main" id="{E1408BAF-1350-4BC5-9C72-82A08BB0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E67B53-E530-4CC6-B1E7-4CCC1FD6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68C6385-AF19-4CB9-BE39-5D655C3B0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6BE4FBEF-7878-4089-B7C3-592ECF84E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AD7F-B917-4B4B-95D4-3AB8CAEC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1" y="4026089"/>
            <a:ext cx="10916365" cy="13753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Applications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32DF-BCC6-4187-AC40-2440312D49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7688" y="5401435"/>
            <a:ext cx="9653792" cy="81480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chemeClr val="tx1">
                    <a:lumMod val="65000"/>
                    <a:lumOff val="35000"/>
                  </a:schemeClr>
                </a:solidFill>
              </a:rPr>
              <a:t>Demonstration of triggers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1B97C1-1406-4FFB-9CFA-A64021BE1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935" y="1150943"/>
            <a:ext cx="5299920" cy="2875145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C0D98D7-E61B-4CC0-A9CB-47AFBDA09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68" y="1150943"/>
            <a:ext cx="5299922" cy="287514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D07B6DE-7663-4467-ABD7-8B76677D9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06"/>
          <a:stretch/>
        </p:blipFill>
        <p:spPr>
          <a:xfrm>
            <a:off x="0" y="-1"/>
            <a:ext cx="12192000" cy="28319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140EF84-918C-4BAE-895D-6EED3719D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14" t="45274" b="-1"/>
          <a:stretch/>
        </p:blipFill>
        <p:spPr>
          <a:xfrm>
            <a:off x="8219138" y="3104866"/>
            <a:ext cx="3972862" cy="375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9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8CED-B24E-4D81-8F16-815EA55E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5871-FB63-451A-82C2-12B6AED8AE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Standards for stored procedures</a:t>
            </a:r>
          </a:p>
          <a:p>
            <a:r>
              <a:rPr lang="en-US" dirty="0"/>
              <a:t>Do not use sp_ as a prefix</a:t>
            </a:r>
          </a:p>
          <a:p>
            <a:r>
              <a:rPr lang="en-US" sz="2200" dirty="0"/>
              <a:t>Come up with a prefix(sp , usp_ , etc.)</a:t>
            </a:r>
          </a:p>
          <a:p>
            <a:r>
              <a:rPr lang="en-US" sz="2200" dirty="0"/>
              <a:t>Naming the action (</a:t>
            </a:r>
            <a:r>
              <a:rPr lang="en-US" dirty="0"/>
              <a:t>uspInsertPerson, SelectPerson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366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8CED-B24E-4D81-8F16-815EA55E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5871-FB63-451A-82C2-12B6AED8AE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Standards for triggers</a:t>
            </a:r>
          </a:p>
          <a:p>
            <a:r>
              <a:rPr lang="en-US" dirty="0"/>
              <a:t>Use indexes when using lookup tables</a:t>
            </a:r>
          </a:p>
          <a:p>
            <a:r>
              <a:rPr lang="en-US" dirty="0"/>
              <a:t>Avoid table scans in database triggers</a:t>
            </a:r>
          </a:p>
          <a:p>
            <a:r>
              <a:rPr lang="en-US" dirty="0"/>
              <a:t>Where possible, use the primary key when modifying rows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03741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8CED-B24E-4D81-8F16-815EA55E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5871-FB63-451A-82C2-12B6AED8AE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Examples of stored procedures</a:t>
            </a:r>
          </a:p>
          <a:p>
            <a:r>
              <a:rPr lang="en-US" dirty="0"/>
              <a:t> Procedure with no parameters</a:t>
            </a:r>
          </a:p>
          <a:p>
            <a:r>
              <a:rPr lang="en-US" dirty="0"/>
              <a:t> Procedure with in parameter</a:t>
            </a:r>
          </a:p>
          <a:p>
            <a:r>
              <a:rPr lang="en-US" dirty="0"/>
              <a:t> Procedure with OUT parameter</a:t>
            </a:r>
          </a:p>
          <a:p>
            <a:r>
              <a:rPr lang="en-US" dirty="0"/>
              <a:t> Procedure with in-OUT parameter</a:t>
            </a:r>
          </a:p>
        </p:txBody>
      </p:sp>
    </p:spTree>
    <p:extLst>
      <p:ext uri="{BB962C8B-B14F-4D97-AF65-F5344CB8AC3E}">
        <p14:creationId xmlns:p14="http://schemas.microsoft.com/office/powerpoint/2010/main" val="2913146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8CED-B24E-4D81-8F16-815EA55E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5871-FB63-451A-82C2-12B6AED8AE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Examples of triggers</a:t>
            </a:r>
          </a:p>
          <a:p>
            <a:r>
              <a:rPr lang="en-US" dirty="0"/>
              <a:t>Row- level trigger</a:t>
            </a:r>
          </a:p>
          <a:p>
            <a:r>
              <a:rPr lang="en-US" dirty="0"/>
              <a:t>Statement level trigger</a:t>
            </a:r>
          </a:p>
        </p:txBody>
      </p:sp>
    </p:spTree>
    <p:extLst>
      <p:ext uri="{BB962C8B-B14F-4D97-AF65-F5344CB8AC3E}">
        <p14:creationId xmlns:p14="http://schemas.microsoft.com/office/powerpoint/2010/main" val="1965059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5538-0015-4A44-BD47-01A87EFD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the Trade</a:t>
            </a:r>
            <a:br>
              <a:rPr lang="en-US" dirty="0"/>
            </a:br>
            <a:r>
              <a:rPr lang="en-US" dirty="0"/>
              <a:t>current industry trends with stored procedures and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63773-3068-4DD3-97EF-900C8FAF01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Every 18 to 24 months there’s an improvement on Xml, etl propagation, olap, multimedia objects, </a:t>
            </a:r>
            <a:r>
              <a:rPr lang="en-US" b="1" dirty="0"/>
              <a:t>logic/code (Triggers, stored procedures).</a:t>
            </a:r>
          </a:p>
          <a:p>
            <a:pPr marL="0" indent="0">
              <a:buNone/>
            </a:pPr>
            <a:r>
              <a:rPr lang="en-US" b="1" dirty="0"/>
              <a:t>These are the trends set by stored procedures and triggers meaning DBA’s use stored procedures and triggers to: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B5FAF2-EFE6-479E-8222-E5EC3AC45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050619"/>
              </p:ext>
            </p:extLst>
          </p:nvPr>
        </p:nvGraphicFramePr>
        <p:xfrm>
          <a:off x="913774" y="4079145"/>
          <a:ext cx="1036382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913">
                  <a:extLst>
                    <a:ext uri="{9D8B030D-6E8A-4147-A177-3AD203B41FA5}">
                      <a16:colId xmlns:a16="http://schemas.microsoft.com/office/drawing/2014/main" val="2186015987"/>
                    </a:ext>
                  </a:extLst>
                </a:gridCol>
                <a:gridCol w="5181913">
                  <a:extLst>
                    <a:ext uri="{9D8B030D-6E8A-4147-A177-3AD203B41FA5}">
                      <a16:colId xmlns:a16="http://schemas.microsoft.com/office/drawing/2014/main" val="326040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 perform DBCO implementation (commit in proc, write or guide)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 perform DBCO administration (trigger firing order, proc 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76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 Schema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 Ensuring reuse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3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 Design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 explain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0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When Tuning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 Debug 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5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 Coding complex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 perform on call DBCO abends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11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78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6639-3C7B-409B-80A9-73035A9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741D-26BD-417E-BA0E-EB61F0B8C9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Stored procedures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5AC434-56A4-4F4C-A00A-AE59FD739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32577"/>
              </p:ext>
            </p:extLst>
          </p:nvPr>
        </p:nvGraphicFramePr>
        <p:xfrm>
          <a:off x="913774" y="3158066"/>
          <a:ext cx="992602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11">
                  <a:extLst>
                    <a:ext uri="{9D8B030D-6E8A-4147-A177-3AD203B41FA5}">
                      <a16:colId xmlns:a16="http://schemas.microsoft.com/office/drawing/2014/main" val="3451257952"/>
                    </a:ext>
                  </a:extLst>
                </a:gridCol>
                <a:gridCol w="4963011">
                  <a:extLst>
                    <a:ext uri="{9D8B030D-6E8A-4147-A177-3AD203B41FA5}">
                      <a16:colId xmlns:a16="http://schemas.microsoft.com/office/drawing/2014/main" val="4118864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7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Reduce traffic between applications and My 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 many stored procedures can use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7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Makes databases more 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 to troubleshoot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7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Reusable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 to maintain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63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725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6639-3C7B-409B-80A9-73035A9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741D-26BD-417E-BA0E-EB61F0B8C9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Triggers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5AC434-56A4-4F4C-A00A-AE59FD739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641481"/>
              </p:ext>
            </p:extLst>
          </p:nvPr>
        </p:nvGraphicFramePr>
        <p:xfrm>
          <a:off x="913774" y="3158066"/>
          <a:ext cx="9926022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11">
                  <a:extLst>
                    <a:ext uri="{9D8B030D-6E8A-4147-A177-3AD203B41FA5}">
                      <a16:colId xmlns:a16="http://schemas.microsoft.com/office/drawing/2014/main" val="3451257952"/>
                    </a:ext>
                  </a:extLst>
                </a:gridCol>
                <a:gridCol w="4963011">
                  <a:extLst>
                    <a:ext uri="{9D8B030D-6E8A-4147-A177-3AD203B41FA5}">
                      <a16:colId xmlns:a16="http://schemas.microsoft.com/office/drawing/2014/main" val="4118864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7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With triggers you can check the integrity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Triggers may increase the overhead of the MySQL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7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Triggers handle errors from the database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Triggers are difficult to troubleshoot because they execute automatically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7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Triggers can be useful for auditing data changes in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Triggers can only provide extended validations, not all validations.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63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615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6639-3C7B-409B-80A9-73035A9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324B3-02D8-437C-801D-DDD80AF6A5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current status and future direction in the IT world of stored procedures</a:t>
            </a:r>
          </a:p>
          <a:p>
            <a:r>
              <a:rPr lang="en-US" dirty="0"/>
              <a:t>A type of stored procedure (Extended stored procedures) will be removed in a future versions.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current status and future direction in the IT world of triggers</a:t>
            </a:r>
          </a:p>
          <a:p>
            <a:r>
              <a:rPr lang="en-US" sz="2200" dirty="0"/>
              <a:t>Previously a table could only have one trigger for each combination of trigger events like (insert, update, delete) and action times like (before, after)</a:t>
            </a:r>
          </a:p>
          <a:p>
            <a:r>
              <a:rPr lang="en-US" sz="2200" dirty="0"/>
              <a:t>Now multiple triggers are allowed</a:t>
            </a:r>
          </a:p>
        </p:txBody>
      </p:sp>
    </p:spTree>
    <p:extLst>
      <p:ext uri="{BB962C8B-B14F-4D97-AF65-F5344CB8AC3E}">
        <p14:creationId xmlns:p14="http://schemas.microsoft.com/office/powerpoint/2010/main" val="287100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6639-3C7B-409B-80A9-73035A9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  <a:br>
              <a:rPr lang="en-US" dirty="0"/>
            </a:br>
            <a:r>
              <a:rPr lang="en-US" dirty="0"/>
              <a:t>upcoming/competitive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741D-26BD-417E-BA0E-EB61F0B8C9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comparison  between Stored procedures and Parameterized query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parameterized query is a means of pre-compiling a SQL statement so that all you need to supply are the "parameters" (think "variables") that need to be inserted into the statement for it to be executed.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FA9B37-D9D9-40E6-B8C5-744A80602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62143"/>
              </p:ext>
            </p:extLst>
          </p:nvPr>
        </p:nvGraphicFramePr>
        <p:xfrm>
          <a:off x="913774" y="4776277"/>
          <a:ext cx="1036382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913">
                  <a:extLst>
                    <a:ext uri="{9D8B030D-6E8A-4147-A177-3AD203B41FA5}">
                      <a16:colId xmlns:a16="http://schemas.microsoft.com/office/drawing/2014/main" val="2317267806"/>
                    </a:ext>
                  </a:extLst>
                </a:gridCol>
                <a:gridCol w="5181913">
                  <a:extLst>
                    <a:ext uri="{9D8B030D-6E8A-4147-A177-3AD203B41FA5}">
                      <a16:colId xmlns:a16="http://schemas.microsoft.com/office/drawing/2014/main" val="3337771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STORED PROCEDURE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PARAMETERIZED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 in performance critical situations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prevent SQL Injection Attacks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85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882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6639-3C7B-409B-80A9-73035A9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  <a:br>
              <a:rPr lang="en-US" dirty="0"/>
            </a:br>
            <a:r>
              <a:rPr lang="en-US" dirty="0"/>
              <a:t>upcoming/competitive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741D-26BD-417E-BA0E-EB61F0B8C9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comparison  between TRIGGER and computed columns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computed column is a virtual column that is not physically stored in the table, unless the column is marked PERSISTED.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FA9B37-D9D9-40E6-B8C5-744A80602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216030"/>
              </p:ext>
            </p:extLst>
          </p:nvPr>
        </p:nvGraphicFramePr>
        <p:xfrm>
          <a:off x="913774" y="4776277"/>
          <a:ext cx="1036382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913">
                  <a:extLst>
                    <a:ext uri="{9D8B030D-6E8A-4147-A177-3AD203B41FA5}">
                      <a16:colId xmlns:a16="http://schemas.microsoft.com/office/drawing/2014/main" val="2317267806"/>
                    </a:ext>
                  </a:extLst>
                </a:gridCol>
                <a:gridCol w="5181913">
                  <a:extLst>
                    <a:ext uri="{9D8B030D-6E8A-4147-A177-3AD203B41FA5}">
                      <a16:colId xmlns:a16="http://schemas.microsoft.com/office/drawing/2014/main" val="3337771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COMPUTED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Triggers can be defined to run instead of or after DMLs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 to hold data based on the rest of the columns of the table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85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008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95A5-C714-4973-8501-7B2DEA32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B73FD7-0C63-4F96-A6EC-9E3D7CFDE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74" y="1992166"/>
            <a:ext cx="1036445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Camps, Dwain.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redgate Hub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14 November 2014. &lt;https://www.red-gate.com/simple-talk/sql/t-sql-programming/using-stored-procedures-to-provide-an-applications-business-logic-layer/&gt;.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Gutzait, Michelle.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 trigger example: One trigger vs. two for the same logic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2 May 2006. &lt;https://searchsqlserver.techtarget.com/feature/SQL-Server-trigger-example-One-trigger-vs-two-for-the-same-logic&gt;.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IBM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n.d. 4 December 2019. &lt;https://www.ibm.com/support/knowledgecenter/en/SSSHTQ_8.1.0/com.ibm.netcool_OMNIbus.doc_8.1.0/omnibus/wip/admin/reference/omn_adm_per_bestpracticestriggers.html&gt;.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n.d. 4 December 2019. &lt;https://dev.mysql.com/doc/refman/5.7/en/triggers.html&gt;.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MySQLTutorial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n.d. 3 December 2019. &lt;http://www.mysqltutorial.org/mysql-triggers.aspx&gt;.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MySQLTutorial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n.d. 1 December 2019. &lt;http://www.mysqltutorial.org/introduction-to-sql-stored-procedures.aspx&gt;.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23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AA0599-23B5-42B8-A063-CE9384F61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1485900"/>
            <a:ext cx="8689976" cy="1943100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0645615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1230</Words>
  <Application>Microsoft Office PowerPoint</Application>
  <PresentationFormat>Widescreen</PresentationFormat>
  <Paragraphs>184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Tw Cen MT</vt:lpstr>
      <vt:lpstr>Droplet</vt:lpstr>
      <vt:lpstr>Stored Procedures and triggers</vt:lpstr>
      <vt:lpstr>Introduction of the topic Description</vt:lpstr>
      <vt:lpstr>Introduction of the topic Origin and History</vt:lpstr>
      <vt:lpstr>Introduction of the topic</vt:lpstr>
      <vt:lpstr>Introduction of the topic</vt:lpstr>
      <vt:lpstr>Applications of the topic</vt:lpstr>
      <vt:lpstr>Applications of the topic</vt:lpstr>
      <vt:lpstr>Applications of the topic</vt:lpstr>
      <vt:lpstr>Applications of the topic</vt:lpstr>
      <vt:lpstr>Applications of the topic</vt:lpstr>
      <vt:lpstr>Applications of the topic</vt:lpstr>
      <vt:lpstr>Applications of the topic</vt:lpstr>
      <vt:lpstr>Applications of the topic</vt:lpstr>
      <vt:lpstr>Tools of the Trade</vt:lpstr>
      <vt:lpstr>Tools of the Trade</vt:lpstr>
      <vt:lpstr>Tools of the Trade</vt:lpstr>
      <vt:lpstr>Tools of the Trade</vt:lpstr>
      <vt:lpstr>Tools of the Trade current industry trends with stored procedures and triggers</vt:lpstr>
      <vt:lpstr>Pros and Cons</vt:lpstr>
      <vt:lpstr>Pros and Cons</vt:lpstr>
      <vt:lpstr>Pros and Cons</vt:lpstr>
      <vt:lpstr>Pros and Cons upcoming/competitive technologies</vt:lpstr>
      <vt:lpstr>Pros and Cons upcoming/competitive technologies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Stored Procedures and triggers</dc:title>
  <dc:creator>Agapitus Iboro</dc:creator>
  <cp:lastModifiedBy>Agapitus Iboro</cp:lastModifiedBy>
  <cp:revision>26</cp:revision>
  <dcterms:created xsi:type="dcterms:W3CDTF">2019-12-04T23:10:37Z</dcterms:created>
  <dcterms:modified xsi:type="dcterms:W3CDTF">2019-12-05T01:52:34Z</dcterms:modified>
</cp:coreProperties>
</file>