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1" r:id="rId3"/>
    <p:sldId id="262" r:id="rId4"/>
    <p:sldId id="263" r:id="rId5"/>
    <p:sldId id="267" r:id="rId6"/>
    <p:sldId id="268" r:id="rId7"/>
    <p:sldId id="269"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12" autoAdjust="0"/>
    <p:restoredTop sz="94660"/>
  </p:normalViewPr>
  <p:slideViewPr>
    <p:cSldViewPr snapToGrid="0">
      <p:cViewPr varScale="1">
        <p:scale>
          <a:sx n="72" d="100"/>
          <a:sy n="72" d="100"/>
        </p:scale>
        <p:origin x="68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10/30/2019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10/30/2019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10/30/2019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10/30/2019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10/30/2019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10/30/2019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10/30/2019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10/30/2019</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hyperlink" Target="https://youtu.be/kpW9JcWxKq0"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s://www.digitaltrends.com/cool-tech/artificial-intelligence-changes-everything-2019/"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hyperlink" Target="https://www.cnbc.com/video/2019/06/07/how-veo-robotics-is-making-industrial-robots-safer.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youtu.be/9CO6M2HsoIA"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youtu.be/H57xf5DoeVc"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kahoot.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C7DC2-D6A1-48AC-8D28-0E40DF272470}"/>
              </a:ext>
            </a:extLst>
          </p:cNvPr>
          <p:cNvSpPr>
            <a:spLocks noGrp="1"/>
          </p:cNvSpPr>
          <p:nvPr>
            <p:ph type="ctrTitle"/>
          </p:nvPr>
        </p:nvSpPr>
        <p:spPr>
          <a:xfrm>
            <a:off x="1751012" y="744194"/>
            <a:ext cx="8689976" cy="2509213"/>
          </a:xfrm>
        </p:spPr>
        <p:txBody>
          <a:bodyPr/>
          <a:lstStyle/>
          <a:p>
            <a:r>
              <a:rPr lang="en-US" dirty="0"/>
              <a:t>Impact of information technology on society</a:t>
            </a:r>
          </a:p>
        </p:txBody>
      </p:sp>
      <p:sp>
        <p:nvSpPr>
          <p:cNvPr id="3" name="Subtitle 2">
            <a:extLst>
              <a:ext uri="{FF2B5EF4-FFF2-40B4-BE49-F238E27FC236}">
                <a16:creationId xmlns:a16="http://schemas.microsoft.com/office/drawing/2014/main" id="{734F3A63-1DCB-4036-A150-BEB803722574}"/>
              </a:ext>
            </a:extLst>
          </p:cNvPr>
          <p:cNvSpPr>
            <a:spLocks noGrp="1"/>
          </p:cNvSpPr>
          <p:nvPr>
            <p:ph type="subTitle" idx="1"/>
          </p:nvPr>
        </p:nvSpPr>
        <p:spPr/>
        <p:txBody>
          <a:bodyPr/>
          <a:lstStyle/>
          <a:p>
            <a:r>
              <a:rPr lang="en-US" dirty="0"/>
              <a:t>Jason holden &amp; Agapitus Iboro</a:t>
            </a:r>
          </a:p>
        </p:txBody>
      </p:sp>
    </p:spTree>
    <p:extLst>
      <p:ext uri="{BB962C8B-B14F-4D97-AF65-F5344CB8AC3E}">
        <p14:creationId xmlns:p14="http://schemas.microsoft.com/office/powerpoint/2010/main" val="1211716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E3254AE-C4CD-426D-A6E8-7FA13B0F8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picture containing animal&#10;&#10;Description automatically generated">
            <a:extLst>
              <a:ext uri="{FF2B5EF4-FFF2-40B4-BE49-F238E27FC236}">
                <a16:creationId xmlns:a16="http://schemas.microsoft.com/office/drawing/2014/main" id="{514E8272-DC81-4B66-B48E-EC8EB3F39FFD}"/>
              </a:ext>
            </a:extLst>
          </p:cNvPr>
          <p:cNvPicPr>
            <a:picLocks noChangeAspect="1"/>
          </p:cNvPicPr>
          <p:nvPr/>
        </p:nvPicPr>
        <p:blipFill>
          <a:blip r:embed="rId2"/>
          <a:stretch>
            <a:fillRect/>
          </a:stretch>
        </p:blipFill>
        <p:spPr>
          <a:xfrm>
            <a:off x="764819" y="1882181"/>
            <a:ext cx="4565476" cy="3424107"/>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16" name="Picture 15">
            <a:extLst>
              <a:ext uri="{FF2B5EF4-FFF2-40B4-BE49-F238E27FC236}">
                <a16:creationId xmlns:a16="http://schemas.microsoft.com/office/drawing/2014/main" id="{F5C53434-A0C7-4A81-8EB0-D460DAD9BB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8" name="Content Placeholder 7">
            <a:extLst>
              <a:ext uri="{FF2B5EF4-FFF2-40B4-BE49-F238E27FC236}">
                <a16:creationId xmlns:a16="http://schemas.microsoft.com/office/drawing/2014/main" id="{431B4F36-4CC4-4013-ADD3-1FC9C77A6077}"/>
              </a:ext>
            </a:extLst>
          </p:cNvPr>
          <p:cNvGraphicFramePr>
            <a:graphicFrameLocks noGrp="1"/>
          </p:cNvGraphicFramePr>
          <p:nvPr>
            <p:ph sz="quarter" idx="13"/>
            <p:extLst>
              <p:ext uri="{D42A27DB-BD31-4B8C-83A1-F6EECF244321}">
                <p14:modId xmlns:p14="http://schemas.microsoft.com/office/powerpoint/2010/main" val="1699904128"/>
              </p:ext>
            </p:extLst>
          </p:nvPr>
        </p:nvGraphicFramePr>
        <p:xfrm>
          <a:off x="5330825" y="1882181"/>
          <a:ext cx="4859338" cy="3424107"/>
        </p:xfrm>
        <a:graphic>
          <a:graphicData uri="http://schemas.openxmlformats.org/drawingml/2006/table">
            <a:tbl>
              <a:tblPr/>
              <a:tblGrid>
                <a:gridCol w="4859338">
                  <a:extLst>
                    <a:ext uri="{9D8B030D-6E8A-4147-A177-3AD203B41FA5}">
                      <a16:colId xmlns:a16="http://schemas.microsoft.com/office/drawing/2014/main" val="3157061047"/>
                    </a:ext>
                  </a:extLst>
                </a:gridCol>
              </a:tblGrid>
              <a:tr h="3424107">
                <a:tc>
                  <a:txBody>
                    <a:bodyPr/>
                    <a:lstStyle/>
                    <a:p>
                      <a:pPr fontAlgn="base"/>
                      <a:br>
                        <a:rPr lang="en-US" sz="2000" b="0" u="none" strike="noStrike" dirty="0">
                          <a:effectLst/>
                          <a:latin typeface="Garamond" panose="02020404030301010803" pitchFamily="18" charset="0"/>
                          <a:hlinkClick r:id="rId4"/>
                        </a:rPr>
                      </a:br>
                      <a:r>
                        <a:rPr lang="en-US" sz="2000" b="0" u="none" strike="noStrike" dirty="0">
                          <a:effectLst/>
                          <a:latin typeface="Garamond" panose="02020404030301010803" pitchFamily="18" charset="0"/>
                          <a:hlinkClick r:id="rId4"/>
                        </a:rPr>
                        <a:t>What is the Fourth Industrial Revolution?</a:t>
                      </a:r>
                      <a:endParaRPr lang="en-US" sz="2000" b="0" u="none" strike="noStrike" dirty="0">
                        <a:effectLst/>
                        <a:latin typeface="Garamond" panose="02020404030301010803" pitchFamily="18" charset="0"/>
                      </a:endParaRPr>
                    </a:p>
                    <a:p>
                      <a:pPr fontAlgn="base"/>
                      <a:endParaRPr lang="en-US" sz="2000" b="0" dirty="0">
                        <a:effectLst/>
                        <a:latin typeface="Garamond" panose="02020404030301010803" pitchFamily="18" charset="0"/>
                      </a:endParaRPr>
                    </a:p>
                    <a:p>
                      <a:pPr fontAlgn="base"/>
                      <a:r>
                        <a:rPr lang="en-US" sz="2000" dirty="0">
                          <a:solidFill>
                            <a:srgbClr val="666666"/>
                          </a:solidFill>
                          <a:effectLst/>
                          <a:latin typeface="Garamond" panose="02020404030301010803" pitchFamily="18" charset="0"/>
                        </a:rPr>
                        <a:t>Ubiquitous, mobile supercomputing. Artificially-intelligent robots. Self-driving cars. Neuro-technological brain enhancements. Genetic editing. The evidence ...</a:t>
                      </a:r>
                    </a:p>
                    <a:p>
                      <a:pPr fontAlgn="base"/>
                      <a:endParaRPr lang="en-US" sz="2000" dirty="0">
                        <a:solidFill>
                          <a:srgbClr val="666666"/>
                        </a:solidFill>
                        <a:effectLst/>
                        <a:latin typeface="Garamond" panose="02020404030301010803" pitchFamily="18" charset="0"/>
                      </a:endParaRPr>
                    </a:p>
                    <a:p>
                      <a:pPr fontAlgn="base"/>
                      <a:r>
                        <a:rPr lang="en-US" sz="2000" b="0" dirty="0">
                          <a:solidFill>
                            <a:srgbClr val="A6A6A6"/>
                          </a:solidFill>
                          <a:effectLst/>
                          <a:latin typeface="Garamond" panose="02020404030301010803" pitchFamily="18" charset="0"/>
                        </a:rPr>
                        <a:t>youtu.be</a:t>
                      </a:r>
                    </a:p>
                  </a:txBody>
                  <a:tcPr marL="92706" marR="278118" marT="92706" marB="92706">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770263452"/>
                  </a:ext>
                </a:extLst>
              </a:tr>
            </a:tbl>
          </a:graphicData>
        </a:graphic>
      </p:graphicFrame>
    </p:spTree>
    <p:extLst>
      <p:ext uri="{BB962C8B-B14F-4D97-AF65-F5344CB8AC3E}">
        <p14:creationId xmlns:p14="http://schemas.microsoft.com/office/powerpoint/2010/main" val="1272669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F72254-AB44-4165-ACE5-2538EFE33A83}"/>
              </a:ext>
            </a:extLst>
          </p:cNvPr>
          <p:cNvSpPr>
            <a:spLocks noGrp="1"/>
          </p:cNvSpPr>
          <p:nvPr>
            <p:ph sz="quarter" idx="13"/>
          </p:nvPr>
        </p:nvSpPr>
        <p:spPr>
          <a:xfrm>
            <a:off x="2922104" y="1124365"/>
            <a:ext cx="6347791" cy="935023"/>
          </a:xfrm>
        </p:spPr>
        <p:txBody>
          <a:bodyPr>
            <a:normAutofit/>
          </a:bodyPr>
          <a:lstStyle/>
          <a:p>
            <a:pPr marL="0" indent="0" algn="ctr">
              <a:buNone/>
            </a:pPr>
            <a:r>
              <a:rPr lang="en-US" sz="2800" dirty="0">
                <a:latin typeface="Garamond" panose="02020404030301010803" pitchFamily="18" charset="0"/>
                <a:hlinkClick r:id="rId2"/>
              </a:rPr>
              <a:t>ARTIFICIAL INTELLIGENCE</a:t>
            </a:r>
            <a:endParaRPr lang="en-US" sz="2800" dirty="0">
              <a:latin typeface="Garamond" panose="02020404030301010803" pitchFamily="18" charset="0"/>
            </a:endParaRPr>
          </a:p>
        </p:txBody>
      </p:sp>
      <p:pic>
        <p:nvPicPr>
          <p:cNvPr id="6" name="Picture 5">
            <a:extLst>
              <a:ext uri="{FF2B5EF4-FFF2-40B4-BE49-F238E27FC236}">
                <a16:creationId xmlns:a16="http://schemas.microsoft.com/office/drawing/2014/main" id="{33966B0B-5247-4781-9EA4-293332BC2E76}"/>
              </a:ext>
            </a:extLst>
          </p:cNvPr>
          <p:cNvPicPr>
            <a:picLocks noChangeAspect="1"/>
          </p:cNvPicPr>
          <p:nvPr/>
        </p:nvPicPr>
        <p:blipFill>
          <a:blip r:embed="rId3"/>
          <a:stretch>
            <a:fillRect/>
          </a:stretch>
        </p:blipFill>
        <p:spPr>
          <a:xfrm>
            <a:off x="2922104" y="1964136"/>
            <a:ext cx="6347791" cy="3530959"/>
          </a:xfrm>
          <a:prstGeom prst="rect">
            <a:avLst/>
          </a:prstGeom>
        </p:spPr>
      </p:pic>
    </p:spTree>
    <p:extLst>
      <p:ext uri="{BB962C8B-B14F-4D97-AF65-F5344CB8AC3E}">
        <p14:creationId xmlns:p14="http://schemas.microsoft.com/office/powerpoint/2010/main" val="654313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E3254AE-C4CD-426D-A6E8-7FA13B0F8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picture containing indoor, man, person, wall&#10;&#10;Description automatically generated">
            <a:extLst>
              <a:ext uri="{FF2B5EF4-FFF2-40B4-BE49-F238E27FC236}">
                <a16:creationId xmlns:a16="http://schemas.microsoft.com/office/drawing/2014/main" id="{0A27ED4C-2677-425C-93AD-23253AB61B96}"/>
              </a:ext>
            </a:extLst>
          </p:cNvPr>
          <p:cNvPicPr>
            <a:picLocks noChangeAspect="1"/>
          </p:cNvPicPr>
          <p:nvPr/>
        </p:nvPicPr>
        <p:blipFill>
          <a:blip r:embed="rId2"/>
          <a:stretch>
            <a:fillRect/>
          </a:stretch>
        </p:blipFill>
        <p:spPr>
          <a:xfrm>
            <a:off x="1004048" y="1836939"/>
            <a:ext cx="4770219" cy="3184121"/>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13" name="Picture 12">
            <a:extLst>
              <a:ext uri="{FF2B5EF4-FFF2-40B4-BE49-F238E27FC236}">
                <a16:creationId xmlns:a16="http://schemas.microsoft.com/office/drawing/2014/main" id="{F5C53434-A0C7-4A81-8EB0-D460DAD9BB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5" name="Content Placeholder 4">
            <a:extLst>
              <a:ext uri="{FF2B5EF4-FFF2-40B4-BE49-F238E27FC236}">
                <a16:creationId xmlns:a16="http://schemas.microsoft.com/office/drawing/2014/main" id="{61006D57-3C5B-4DF7-88EC-E14F870E38FC}"/>
              </a:ext>
            </a:extLst>
          </p:cNvPr>
          <p:cNvGraphicFramePr>
            <a:graphicFrameLocks noGrp="1"/>
          </p:cNvGraphicFramePr>
          <p:nvPr>
            <p:ph sz="quarter" idx="13"/>
            <p:extLst>
              <p:ext uri="{D42A27DB-BD31-4B8C-83A1-F6EECF244321}">
                <p14:modId xmlns:p14="http://schemas.microsoft.com/office/powerpoint/2010/main" val="1235208772"/>
              </p:ext>
            </p:extLst>
          </p:nvPr>
        </p:nvGraphicFramePr>
        <p:xfrm>
          <a:off x="5774267" y="1836938"/>
          <a:ext cx="4859337" cy="3184121"/>
        </p:xfrm>
        <a:graphic>
          <a:graphicData uri="http://schemas.openxmlformats.org/drawingml/2006/table">
            <a:tbl>
              <a:tblPr/>
              <a:tblGrid>
                <a:gridCol w="4859337">
                  <a:extLst>
                    <a:ext uri="{9D8B030D-6E8A-4147-A177-3AD203B41FA5}">
                      <a16:colId xmlns:a16="http://schemas.microsoft.com/office/drawing/2014/main" val="596835349"/>
                    </a:ext>
                  </a:extLst>
                </a:gridCol>
              </a:tblGrid>
              <a:tr h="3184121">
                <a:tc>
                  <a:txBody>
                    <a:bodyPr/>
                    <a:lstStyle/>
                    <a:p>
                      <a:pPr fontAlgn="base"/>
                      <a:br>
                        <a:rPr lang="en-US" sz="2000" b="0" u="none" strike="noStrike" dirty="0">
                          <a:effectLst/>
                          <a:latin typeface="Garamond" panose="02020404030301010803" pitchFamily="18" charset="0"/>
                          <a:hlinkClick r:id="rId4"/>
                        </a:rPr>
                      </a:br>
                      <a:r>
                        <a:rPr lang="en-US" sz="2000" b="0" u="none" strike="noStrike" dirty="0">
                          <a:effectLst/>
                          <a:latin typeface="Garamond" panose="02020404030301010803" pitchFamily="18" charset="0"/>
                          <a:hlinkClick r:id="rId4"/>
                        </a:rPr>
                        <a:t>How Veo Robotics is making industrial robots safer - cnbc.com</a:t>
                      </a:r>
                      <a:endParaRPr lang="en-US" sz="2000" b="0" dirty="0">
                        <a:effectLst/>
                        <a:latin typeface="Garamond" panose="02020404030301010803" pitchFamily="18" charset="0"/>
                      </a:endParaRPr>
                    </a:p>
                    <a:p>
                      <a:pPr fontAlgn="base"/>
                      <a:r>
                        <a:rPr lang="en-US" sz="2000" dirty="0">
                          <a:solidFill>
                            <a:srgbClr val="666666"/>
                          </a:solidFill>
                          <a:effectLst/>
                          <a:latin typeface="Garamond" panose="02020404030301010803" pitchFamily="18" charset="0"/>
                        </a:rPr>
                        <a:t>Massachusetts-based startup, Veo Robotics, is using sensor technology and computer vision to make it safe for humans to work alongside large factory robots. One VC firm estimates that the market ...</a:t>
                      </a:r>
                    </a:p>
                    <a:p>
                      <a:pPr fontAlgn="base"/>
                      <a:r>
                        <a:rPr lang="en-US" sz="2000" b="0" dirty="0">
                          <a:solidFill>
                            <a:srgbClr val="A6A6A6"/>
                          </a:solidFill>
                          <a:effectLst/>
                          <a:latin typeface="Garamond" panose="02020404030301010803" pitchFamily="18" charset="0"/>
                        </a:rPr>
                        <a:t>www.cnbc.com</a:t>
                      </a:r>
                    </a:p>
                  </a:txBody>
                  <a:tcPr marL="92706" marR="278118" marT="92706" marB="92706">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573373200"/>
                  </a:ext>
                </a:extLst>
              </a:tr>
            </a:tbl>
          </a:graphicData>
        </a:graphic>
      </p:graphicFrame>
    </p:spTree>
    <p:extLst>
      <p:ext uri="{BB962C8B-B14F-4D97-AF65-F5344CB8AC3E}">
        <p14:creationId xmlns:p14="http://schemas.microsoft.com/office/powerpoint/2010/main" val="4223292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F72254-AB44-4165-ACE5-2538EFE33A83}"/>
              </a:ext>
            </a:extLst>
          </p:cNvPr>
          <p:cNvSpPr>
            <a:spLocks noGrp="1"/>
          </p:cNvSpPr>
          <p:nvPr>
            <p:ph sz="quarter" idx="13"/>
          </p:nvPr>
        </p:nvSpPr>
        <p:spPr>
          <a:xfrm>
            <a:off x="2922103" y="1013223"/>
            <a:ext cx="6347791" cy="935023"/>
          </a:xfrm>
        </p:spPr>
        <p:txBody>
          <a:bodyPr>
            <a:normAutofit/>
          </a:bodyPr>
          <a:lstStyle/>
          <a:p>
            <a:pPr marL="0" indent="0" algn="ctr">
              <a:buNone/>
            </a:pPr>
            <a:r>
              <a:rPr lang="en-US" sz="2800" dirty="0">
                <a:latin typeface="Garamond" panose="02020404030301010803" pitchFamily="18" charset="0"/>
                <a:hlinkClick r:id="rId2"/>
              </a:rPr>
              <a:t>SLAUGHTER BOTS</a:t>
            </a:r>
            <a:endParaRPr lang="en-US" sz="2800" dirty="0">
              <a:latin typeface="Garamond" panose="02020404030301010803" pitchFamily="18" charset="0"/>
            </a:endParaRPr>
          </a:p>
        </p:txBody>
      </p:sp>
      <p:pic>
        <p:nvPicPr>
          <p:cNvPr id="4" name="Picture 3" descr="A close up of a logo&#10;&#10;Description automatically generated">
            <a:extLst>
              <a:ext uri="{FF2B5EF4-FFF2-40B4-BE49-F238E27FC236}">
                <a16:creationId xmlns:a16="http://schemas.microsoft.com/office/drawing/2014/main" id="{2B39AF40-66EF-42DA-9A81-3B7FC1D69169}"/>
              </a:ext>
            </a:extLst>
          </p:cNvPr>
          <p:cNvPicPr>
            <a:picLocks noChangeAspect="1"/>
          </p:cNvPicPr>
          <p:nvPr/>
        </p:nvPicPr>
        <p:blipFill>
          <a:blip r:embed="rId3"/>
          <a:stretch>
            <a:fillRect/>
          </a:stretch>
        </p:blipFill>
        <p:spPr>
          <a:xfrm>
            <a:off x="3199795" y="1578265"/>
            <a:ext cx="5792406" cy="3701470"/>
          </a:xfrm>
          <a:prstGeom prst="rect">
            <a:avLst/>
          </a:prstGeom>
        </p:spPr>
      </p:pic>
    </p:spTree>
    <p:extLst>
      <p:ext uri="{BB962C8B-B14F-4D97-AF65-F5344CB8AC3E}">
        <p14:creationId xmlns:p14="http://schemas.microsoft.com/office/powerpoint/2010/main" val="2561343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E3254AE-C4CD-426D-A6E8-7FA13B0F8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F5C53434-A0C7-4A81-8EB0-D460DAD9BB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8" name="Content Placeholder 7">
            <a:extLst>
              <a:ext uri="{FF2B5EF4-FFF2-40B4-BE49-F238E27FC236}">
                <a16:creationId xmlns:a16="http://schemas.microsoft.com/office/drawing/2014/main" id="{431B4F36-4CC4-4013-ADD3-1FC9C77A6077}"/>
              </a:ext>
            </a:extLst>
          </p:cNvPr>
          <p:cNvGraphicFramePr>
            <a:graphicFrameLocks noGrp="1"/>
          </p:cNvGraphicFramePr>
          <p:nvPr>
            <p:ph sz="quarter" idx="13"/>
            <p:extLst>
              <p:ext uri="{D42A27DB-BD31-4B8C-83A1-F6EECF244321}">
                <p14:modId xmlns:p14="http://schemas.microsoft.com/office/powerpoint/2010/main" val="2838830958"/>
              </p:ext>
            </p:extLst>
          </p:nvPr>
        </p:nvGraphicFramePr>
        <p:xfrm>
          <a:off x="5330825" y="1882181"/>
          <a:ext cx="4859338" cy="3424107"/>
        </p:xfrm>
        <a:graphic>
          <a:graphicData uri="http://schemas.openxmlformats.org/drawingml/2006/table">
            <a:tbl>
              <a:tblPr/>
              <a:tblGrid>
                <a:gridCol w="4859338">
                  <a:extLst>
                    <a:ext uri="{9D8B030D-6E8A-4147-A177-3AD203B41FA5}">
                      <a16:colId xmlns:a16="http://schemas.microsoft.com/office/drawing/2014/main" val="3157061047"/>
                    </a:ext>
                  </a:extLst>
                </a:gridCol>
              </a:tblGrid>
              <a:tr h="3424107">
                <a:tc>
                  <a:txBody>
                    <a:bodyPr/>
                    <a:lstStyle/>
                    <a:p>
                      <a:pPr fontAlgn="base"/>
                      <a:br>
                        <a:rPr lang="en-US" sz="2000" b="0" u="none" strike="noStrike" dirty="0">
                          <a:effectLst/>
                          <a:latin typeface="Garamond" panose="02020404030301010803" pitchFamily="18" charset="0"/>
                          <a:hlinkClick r:id="rId3"/>
                        </a:rPr>
                      </a:br>
                      <a:r>
                        <a:rPr lang="en-US" sz="2000" b="0" u="none" strike="noStrike" dirty="0">
                          <a:effectLst/>
                          <a:latin typeface="Garamond" panose="02020404030301010803" pitchFamily="18" charset="0"/>
                          <a:hlinkClick r:id="rId3"/>
                        </a:rPr>
                        <a:t>Broken Records Part 1: How We Got Here I Fortune</a:t>
                      </a:r>
                      <a:endParaRPr lang="en-US" sz="2000" b="0" u="none" strike="noStrike" dirty="0">
                        <a:effectLst/>
                        <a:latin typeface="Garamond" panose="02020404030301010803" pitchFamily="18" charset="0"/>
                      </a:endParaRPr>
                    </a:p>
                    <a:p>
                      <a:pPr fontAlgn="base"/>
                      <a:endParaRPr lang="en-US" sz="2000" b="0" dirty="0">
                        <a:effectLst/>
                        <a:latin typeface="Garamond" panose="02020404030301010803" pitchFamily="18" charset="0"/>
                      </a:endParaRPr>
                    </a:p>
                    <a:p>
                      <a:pPr fontAlgn="base"/>
                      <a:r>
                        <a:rPr lang="en-US" sz="2000" dirty="0">
                          <a:solidFill>
                            <a:srgbClr val="666666"/>
                          </a:solidFill>
                          <a:effectLst/>
                          <a:latin typeface="Garamond" panose="02020404030301010803" pitchFamily="18" charset="0"/>
                        </a:rPr>
                        <a:t>When the American healthcare system began to transition to Electronic Healthcare Records, policy makers saw a future full of potential and possibility. Subsc...</a:t>
                      </a:r>
                    </a:p>
                    <a:p>
                      <a:pPr fontAlgn="base"/>
                      <a:endParaRPr lang="en-US" sz="2000" dirty="0">
                        <a:solidFill>
                          <a:srgbClr val="666666"/>
                        </a:solidFill>
                        <a:effectLst/>
                        <a:latin typeface="Garamond" panose="02020404030301010803" pitchFamily="18" charset="0"/>
                      </a:endParaRPr>
                    </a:p>
                    <a:p>
                      <a:pPr fontAlgn="base"/>
                      <a:r>
                        <a:rPr lang="en-US" sz="2000" b="0" dirty="0">
                          <a:solidFill>
                            <a:srgbClr val="A6A6A6"/>
                          </a:solidFill>
                          <a:effectLst/>
                          <a:latin typeface="Garamond" panose="02020404030301010803" pitchFamily="18" charset="0"/>
                        </a:rPr>
                        <a:t>youtu.be</a:t>
                      </a:r>
                    </a:p>
                  </a:txBody>
                  <a:tcPr marL="114300" marR="342900" marT="114300" marB="114300">
                    <a:lnL w="9525" cap="flat" cmpd="sng" algn="ctr">
                      <a:solidFill>
                        <a:srgbClr val="C8C8C8"/>
                      </a:solidFill>
                      <a:prstDash val="solid"/>
                      <a:round/>
                      <a:headEnd type="none" w="med" len="med"/>
                      <a:tailEnd type="none" w="med" len="med"/>
                    </a:lnL>
                    <a:lnR w="9525" cap="flat" cmpd="sng" algn="ctr">
                      <a:solidFill>
                        <a:srgbClr val="C8C8C8"/>
                      </a:solidFill>
                      <a:prstDash val="solid"/>
                      <a:round/>
                      <a:headEnd type="none" w="med" len="med"/>
                      <a:tailEnd type="none" w="med" len="med"/>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770263452"/>
                  </a:ext>
                </a:extLst>
              </a:tr>
            </a:tbl>
          </a:graphicData>
        </a:graphic>
      </p:graphicFrame>
      <p:pic>
        <p:nvPicPr>
          <p:cNvPr id="3" name="Picture 2" descr="A close up of a logo&#10;&#10;Description automatically generated">
            <a:extLst>
              <a:ext uri="{FF2B5EF4-FFF2-40B4-BE49-F238E27FC236}">
                <a16:creationId xmlns:a16="http://schemas.microsoft.com/office/drawing/2014/main" id="{5642D6DA-673E-4F2F-9647-70C8BD03DD84}"/>
              </a:ext>
            </a:extLst>
          </p:cNvPr>
          <p:cNvPicPr>
            <a:picLocks noChangeAspect="1"/>
          </p:cNvPicPr>
          <p:nvPr/>
        </p:nvPicPr>
        <p:blipFill>
          <a:blip r:embed="rId4"/>
          <a:stretch>
            <a:fillRect/>
          </a:stretch>
        </p:blipFill>
        <p:spPr>
          <a:xfrm>
            <a:off x="901147" y="1882181"/>
            <a:ext cx="4429677" cy="3424107"/>
          </a:xfrm>
          <a:prstGeom prst="rect">
            <a:avLst/>
          </a:prstGeom>
        </p:spPr>
      </p:pic>
    </p:spTree>
    <p:extLst>
      <p:ext uri="{BB962C8B-B14F-4D97-AF65-F5344CB8AC3E}">
        <p14:creationId xmlns:p14="http://schemas.microsoft.com/office/powerpoint/2010/main" val="2206968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E4227-63E2-446B-84D1-55D966ACEC1E}"/>
              </a:ext>
            </a:extLst>
          </p:cNvPr>
          <p:cNvSpPr>
            <a:spLocks noGrp="1"/>
          </p:cNvSpPr>
          <p:nvPr>
            <p:ph type="title"/>
          </p:nvPr>
        </p:nvSpPr>
        <p:spPr/>
        <p:txBody>
          <a:bodyPr/>
          <a:lstStyle/>
          <a:p>
            <a:r>
              <a:rPr lang="en-US" dirty="0"/>
              <a:t>activity</a:t>
            </a:r>
          </a:p>
        </p:txBody>
      </p:sp>
      <p:sp>
        <p:nvSpPr>
          <p:cNvPr id="3" name="Content Placeholder 2">
            <a:extLst>
              <a:ext uri="{FF2B5EF4-FFF2-40B4-BE49-F238E27FC236}">
                <a16:creationId xmlns:a16="http://schemas.microsoft.com/office/drawing/2014/main" id="{37F95AA9-6AA1-46E2-9FA6-AC95246EC8A9}"/>
              </a:ext>
            </a:extLst>
          </p:cNvPr>
          <p:cNvSpPr>
            <a:spLocks noGrp="1"/>
          </p:cNvSpPr>
          <p:nvPr>
            <p:ph sz="quarter" idx="13"/>
          </p:nvPr>
        </p:nvSpPr>
        <p:spPr/>
        <p:txBody>
          <a:bodyPr>
            <a:normAutofit/>
          </a:bodyPr>
          <a:lstStyle/>
          <a:p>
            <a:pPr marL="0" indent="0">
              <a:buNone/>
            </a:pPr>
            <a:r>
              <a:rPr lang="en-US" sz="2400" dirty="0">
                <a:latin typeface="Garamond" panose="02020404030301010803" pitchFamily="18" charset="0"/>
              </a:rPr>
              <a:t>Pro's and Cons to an automated workforce</a:t>
            </a:r>
          </a:p>
          <a:p>
            <a:pPr marL="0" indent="0">
              <a:buNone/>
            </a:pPr>
            <a:r>
              <a:rPr lang="en-US" sz="2400" dirty="0">
                <a:latin typeface="Garamond" panose="02020404030301010803" pitchFamily="18" charset="0"/>
              </a:rPr>
              <a:t>Ideas on jobs that can or cannot be automated</a:t>
            </a:r>
          </a:p>
        </p:txBody>
      </p:sp>
    </p:spTree>
    <p:extLst>
      <p:ext uri="{BB962C8B-B14F-4D97-AF65-F5344CB8AC3E}">
        <p14:creationId xmlns:p14="http://schemas.microsoft.com/office/powerpoint/2010/main" val="282066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5C42DCE-8C3B-4F52-A7FD-BA4FF91AEDD5}"/>
              </a:ext>
            </a:extLst>
          </p:cNvPr>
          <p:cNvSpPr>
            <a:spLocks noGrp="1"/>
          </p:cNvSpPr>
          <p:nvPr>
            <p:ph sz="quarter" idx="13"/>
          </p:nvPr>
        </p:nvSpPr>
        <p:spPr>
          <a:xfrm>
            <a:off x="4677703" y="1210164"/>
            <a:ext cx="2836591" cy="641150"/>
          </a:xfrm>
        </p:spPr>
        <p:txBody>
          <a:bodyPr>
            <a:normAutofit/>
          </a:bodyPr>
          <a:lstStyle/>
          <a:p>
            <a:pPr marL="0" indent="0" algn="ctr">
              <a:buNone/>
            </a:pPr>
            <a:r>
              <a:rPr lang="en-US" sz="2800" dirty="0">
                <a:latin typeface="Garamond" panose="02020404030301010803" pitchFamily="18" charset="0"/>
                <a:hlinkClick r:id="rId2"/>
              </a:rPr>
              <a:t>KAHOOT</a:t>
            </a:r>
            <a:endParaRPr lang="en-US" sz="2800" dirty="0">
              <a:latin typeface="Garamond" panose="02020404030301010803" pitchFamily="18" charset="0"/>
            </a:endParaRPr>
          </a:p>
        </p:txBody>
      </p:sp>
      <p:pic>
        <p:nvPicPr>
          <p:cNvPr id="12" name="Picture 11" descr="A close up of a sign&#10;&#10;Description automatically generated">
            <a:extLst>
              <a:ext uri="{FF2B5EF4-FFF2-40B4-BE49-F238E27FC236}">
                <a16:creationId xmlns:a16="http://schemas.microsoft.com/office/drawing/2014/main" id="{3442D15A-A0D7-488E-B3BC-4CEFCCCD0FCA}"/>
              </a:ext>
            </a:extLst>
          </p:cNvPr>
          <p:cNvPicPr>
            <a:picLocks noChangeAspect="1"/>
          </p:cNvPicPr>
          <p:nvPr/>
        </p:nvPicPr>
        <p:blipFill>
          <a:blip r:embed="rId3"/>
          <a:stretch>
            <a:fillRect/>
          </a:stretch>
        </p:blipFill>
        <p:spPr>
          <a:xfrm>
            <a:off x="2863455" y="2024594"/>
            <a:ext cx="6465085" cy="3185920"/>
          </a:xfrm>
          <a:prstGeom prst="rect">
            <a:avLst/>
          </a:prstGeom>
        </p:spPr>
      </p:pic>
    </p:spTree>
    <p:extLst>
      <p:ext uri="{BB962C8B-B14F-4D97-AF65-F5344CB8AC3E}">
        <p14:creationId xmlns:p14="http://schemas.microsoft.com/office/powerpoint/2010/main" val="263107001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otalTime>20</TotalTime>
  <Words>33</Words>
  <Application>Microsoft Office PowerPoint</Application>
  <PresentationFormat>Widescreen</PresentationFormat>
  <Paragraphs>21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Garamond</vt:lpstr>
      <vt:lpstr>Tw Cen MT</vt:lpstr>
      <vt:lpstr>Droplet</vt:lpstr>
      <vt:lpstr>Impact of information technology on society</vt:lpstr>
      <vt:lpstr>PowerPoint Presentation</vt:lpstr>
      <vt:lpstr>PowerPoint Presentation</vt:lpstr>
      <vt:lpstr>PowerPoint Presentation</vt:lpstr>
      <vt:lpstr>PowerPoint Presentation</vt:lpstr>
      <vt:lpstr>PowerPoint Presentation</vt:lpstr>
      <vt:lpstr>activity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information technology on society</dc:title>
  <dc:creator>Agapitus Iboro</dc:creator>
  <cp:lastModifiedBy>Agapitus Iboro</cp:lastModifiedBy>
  <cp:revision>11</cp:revision>
  <dcterms:created xsi:type="dcterms:W3CDTF">2019-10-30T23:55:40Z</dcterms:created>
  <dcterms:modified xsi:type="dcterms:W3CDTF">2019-10-31T02:08:43Z</dcterms:modified>
</cp:coreProperties>
</file>