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6"/>
  </p:notesMasterIdLst>
  <p:sldIdLst>
    <p:sldId id="256" r:id="rId2"/>
    <p:sldId id="261" r:id="rId3"/>
    <p:sldId id="283" r:id="rId4"/>
    <p:sldId id="262" r:id="rId5"/>
    <p:sldId id="264" r:id="rId6"/>
    <p:sldId id="284" r:id="rId7"/>
    <p:sldId id="285" r:id="rId8"/>
    <p:sldId id="286" r:id="rId9"/>
    <p:sldId id="287" r:id="rId10"/>
    <p:sldId id="274" r:id="rId11"/>
    <p:sldId id="288" r:id="rId12"/>
    <p:sldId id="289" r:id="rId13"/>
    <p:sldId id="275" r:id="rId14"/>
    <p:sldId id="290" r:id="rId15"/>
    <p:sldId id="291" r:id="rId16"/>
    <p:sldId id="276" r:id="rId17"/>
    <p:sldId id="298" r:id="rId18"/>
    <p:sldId id="299" r:id="rId19"/>
    <p:sldId id="300" r:id="rId20"/>
    <p:sldId id="301" r:id="rId21"/>
    <p:sldId id="308" r:id="rId22"/>
    <p:sldId id="302" r:id="rId23"/>
    <p:sldId id="303" r:id="rId24"/>
    <p:sldId id="304" r:id="rId25"/>
    <p:sldId id="305" r:id="rId26"/>
    <p:sldId id="306" r:id="rId27"/>
    <p:sldId id="307" r:id="rId28"/>
    <p:sldId id="277" r:id="rId29"/>
    <p:sldId id="295" r:id="rId30"/>
    <p:sldId id="294" r:id="rId31"/>
    <p:sldId id="296" r:id="rId32"/>
    <p:sldId id="297" r:id="rId33"/>
    <p:sldId id="278" r:id="rId34"/>
    <p:sldId id="292" r:id="rId35"/>
    <p:sldId id="293" r:id="rId36"/>
    <p:sldId id="263" r:id="rId37"/>
    <p:sldId id="279" r:id="rId38"/>
    <p:sldId id="309" r:id="rId39"/>
    <p:sldId id="280" r:id="rId40"/>
    <p:sldId id="281" r:id="rId41"/>
    <p:sldId id="282" r:id="rId42"/>
    <p:sldId id="310" r:id="rId43"/>
    <p:sldId id="311" r:id="rId44"/>
    <p:sldId id="260" r:id="rId4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64564" autoAdjust="0"/>
  </p:normalViewPr>
  <p:slideViewPr>
    <p:cSldViewPr snapToGrid="0">
      <p:cViewPr varScale="1">
        <p:scale>
          <a:sx n="46" d="100"/>
          <a:sy n="46" d="100"/>
        </p:scale>
        <p:origin x="1656"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8C9EF1F-CFB2-4AB2-9E8D-0057B421191E}" type="datetimeFigureOut">
              <a:rPr lang="en-US" smtClean="0"/>
              <a:t>9/16/2019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53C171-446B-4081-B69A-78F2C119A7EB}" type="slidenum">
              <a:rPr lang="en-US" smtClean="0"/>
              <a:t>‹#›</a:t>
            </a:fld>
            <a:endParaRPr lang="en-US"/>
          </a:p>
        </p:txBody>
      </p:sp>
    </p:spTree>
    <p:extLst>
      <p:ext uri="{BB962C8B-B14F-4D97-AF65-F5344CB8AC3E}">
        <p14:creationId xmlns:p14="http://schemas.microsoft.com/office/powerpoint/2010/main" val="24116980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sz="1200" b="1" dirty="0"/>
              <a:t>Privacy</a:t>
            </a:r>
          </a:p>
          <a:p>
            <a:r>
              <a:rPr lang="en-US" sz="1200" b="0" i="0" kern="1200" dirty="0">
                <a:solidFill>
                  <a:schemeClr val="tx1"/>
                </a:solidFill>
                <a:effectLst/>
                <a:latin typeface="+mn-lt"/>
                <a:ea typeface="+mn-ea"/>
                <a:cs typeface="+mn-cs"/>
              </a:rPr>
              <a:t>the state or condition of being free from being observed or disturbed by other people</a:t>
            </a:r>
          </a:p>
          <a:p>
            <a:endParaRPr lang="en-US" altLang="en-US" sz="1200" b="1" dirty="0"/>
          </a:p>
          <a:p>
            <a:r>
              <a:rPr lang="en-US" altLang="en-US" sz="1200" b="1" dirty="0"/>
              <a:t>Bill of rights</a:t>
            </a:r>
          </a:p>
          <a:p>
            <a:r>
              <a:rPr lang="en-US" altLang="en-US" sz="1200" b="0" dirty="0"/>
              <a:t>This provides a concept of privacy</a:t>
            </a:r>
          </a:p>
          <a:p>
            <a:endParaRPr lang="en-US" altLang="en-US" sz="1200" b="0" dirty="0"/>
          </a:p>
          <a:p>
            <a:pPr>
              <a:spcBef>
                <a:spcPts val="600"/>
              </a:spcBef>
            </a:pPr>
            <a:r>
              <a:rPr lang="en-US" altLang="en-US" sz="2800" b="1" dirty="0"/>
              <a:t>Fourth Amendment</a:t>
            </a:r>
            <a:r>
              <a:rPr lang="en-US" altLang="en-US" sz="2800" dirty="0"/>
              <a:t>: </a:t>
            </a:r>
          </a:p>
          <a:p>
            <a:pPr>
              <a:spcBef>
                <a:spcPts val="600"/>
              </a:spcBef>
            </a:pPr>
            <a:r>
              <a:rPr lang="en-US" sz="2600" dirty="0"/>
              <a:t>“The right of the people to be secure in their persons, houses, papers, and effects, against unreasonable searches and seizures, shall not be violated, and no Warrants shall issue, but upon probable cause, supported by Oath or affirmation, and particularly describing the place to be searched, and the persons or things to be seized.”</a:t>
            </a:r>
          </a:p>
          <a:p>
            <a:endParaRPr lang="en-US" altLang="en-US" sz="1200" b="1" dirty="0"/>
          </a:p>
          <a:p>
            <a:r>
              <a:rPr lang="en-US" altLang="en-US" sz="1200" b="1" dirty="0"/>
              <a:t>Right of privacy</a:t>
            </a:r>
            <a:r>
              <a:rPr lang="en-US" altLang="en-US" sz="1200" dirty="0"/>
              <a:t>: The right to be left alone</a:t>
            </a:r>
          </a:p>
          <a:p>
            <a:r>
              <a:rPr lang="en-US" altLang="en-US" sz="1200" b="1" dirty="0"/>
              <a:t>Information privacy: </a:t>
            </a:r>
            <a:r>
              <a:rPr lang="en-US" altLang="en-US" sz="1200" dirty="0"/>
              <a:t>T</a:t>
            </a:r>
            <a:r>
              <a:rPr lang="en-US" sz="1200" dirty="0"/>
              <a:t>he combination of communications privacy (the ability to communicate with others without those communications being monitored) and data privacy (the ability to limit access</a:t>
            </a:r>
            <a:br>
              <a:rPr lang="en-US" sz="1200" dirty="0"/>
            </a:br>
            <a:r>
              <a:rPr lang="en-US" sz="1200" dirty="0"/>
              <a:t>to one’s personal data by others).</a:t>
            </a:r>
            <a:endParaRPr lang="en-US" altLang="en-US" sz="1200" dirty="0"/>
          </a:p>
          <a:p>
            <a:endParaRPr lang="en-US" dirty="0"/>
          </a:p>
        </p:txBody>
      </p:sp>
      <p:sp>
        <p:nvSpPr>
          <p:cNvPr id="4" name="Slide Number Placeholder 3"/>
          <p:cNvSpPr>
            <a:spLocks noGrp="1"/>
          </p:cNvSpPr>
          <p:nvPr>
            <p:ph type="sldNum" sz="quarter" idx="5"/>
          </p:nvPr>
        </p:nvSpPr>
        <p:spPr/>
        <p:txBody>
          <a:bodyPr/>
          <a:lstStyle/>
          <a:p>
            <a:fld id="{3553C171-446B-4081-B69A-78F2C119A7EB}" type="slidenum">
              <a:rPr lang="en-US" smtClean="0"/>
              <a:t>2</a:t>
            </a:fld>
            <a:endParaRPr lang="en-US"/>
          </a:p>
        </p:txBody>
      </p:sp>
    </p:spTree>
    <p:extLst>
      <p:ext uri="{BB962C8B-B14F-4D97-AF65-F5344CB8AC3E}">
        <p14:creationId xmlns:p14="http://schemas.microsoft.com/office/powerpoint/2010/main" val="204000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basis for the collection of our data</a:t>
            </a:r>
          </a:p>
        </p:txBody>
      </p:sp>
      <p:sp>
        <p:nvSpPr>
          <p:cNvPr id="4" name="Slide Number Placeholder 3"/>
          <p:cNvSpPr>
            <a:spLocks noGrp="1"/>
          </p:cNvSpPr>
          <p:nvPr>
            <p:ph type="sldNum" sz="quarter" idx="5"/>
          </p:nvPr>
        </p:nvSpPr>
        <p:spPr/>
        <p:txBody>
          <a:bodyPr/>
          <a:lstStyle/>
          <a:p>
            <a:fld id="{3553C171-446B-4081-B69A-78F2C119A7EB}" type="slidenum">
              <a:rPr lang="en-US" smtClean="0"/>
              <a:t>3</a:t>
            </a:fld>
            <a:endParaRPr lang="en-US"/>
          </a:p>
        </p:txBody>
      </p:sp>
    </p:spTree>
    <p:extLst>
      <p:ext uri="{BB962C8B-B14F-4D97-AF65-F5344CB8AC3E}">
        <p14:creationId xmlns:p14="http://schemas.microsoft.com/office/powerpoint/2010/main" val="13896909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talks about a certain number of legislative acts that affect our privacy. It also addresses the governments invasion of our privacy, and how the legislations that should protect individuals from loss of data is almost nonexistent. </a:t>
            </a:r>
          </a:p>
        </p:txBody>
      </p:sp>
      <p:sp>
        <p:nvSpPr>
          <p:cNvPr id="4" name="Slide Number Placeholder 3"/>
          <p:cNvSpPr>
            <a:spLocks noGrp="1"/>
          </p:cNvSpPr>
          <p:nvPr>
            <p:ph type="sldNum" sz="quarter" idx="5"/>
          </p:nvPr>
        </p:nvSpPr>
        <p:spPr/>
        <p:txBody>
          <a:bodyPr/>
          <a:lstStyle/>
          <a:p>
            <a:fld id="{3553C171-446B-4081-B69A-78F2C119A7EB}" type="slidenum">
              <a:rPr lang="en-US" smtClean="0"/>
              <a:t>4</a:t>
            </a:fld>
            <a:endParaRPr lang="en-US"/>
          </a:p>
        </p:txBody>
      </p:sp>
    </p:spTree>
    <p:extLst>
      <p:ext uri="{BB962C8B-B14F-4D97-AF65-F5344CB8AC3E}">
        <p14:creationId xmlns:p14="http://schemas.microsoft.com/office/powerpoint/2010/main" val="10250332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Financial Data</a:t>
            </a:r>
          </a:p>
          <a:p>
            <a:r>
              <a:rPr lang="en-US" dirty="0"/>
              <a:t>In order to enjoy certain financial products and services like (savings accounts, loans, brokerage accounts) an individual has to disclose his/her private information. Meaning you have information like your password or account number with these companies. These acts tell you what's being done with your data how its protected and if its shared with a third party.</a:t>
            </a:r>
          </a:p>
        </p:txBody>
      </p:sp>
      <p:sp>
        <p:nvSpPr>
          <p:cNvPr id="4" name="Slide Number Placeholder 3"/>
          <p:cNvSpPr>
            <a:spLocks noGrp="1"/>
          </p:cNvSpPr>
          <p:nvPr>
            <p:ph type="sldNum" sz="quarter" idx="5"/>
          </p:nvPr>
        </p:nvSpPr>
        <p:spPr/>
        <p:txBody>
          <a:bodyPr/>
          <a:lstStyle/>
          <a:p>
            <a:fld id="{3553C171-446B-4081-B69A-78F2C119A7EB}" type="slidenum">
              <a:rPr lang="en-US" smtClean="0"/>
              <a:t>5</a:t>
            </a:fld>
            <a:endParaRPr lang="en-US"/>
          </a:p>
        </p:txBody>
      </p:sp>
    </p:spTree>
    <p:extLst>
      <p:ext uri="{BB962C8B-B14F-4D97-AF65-F5344CB8AC3E}">
        <p14:creationId xmlns:p14="http://schemas.microsoft.com/office/powerpoint/2010/main" val="24720299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act regulates the operations of credit reporting bureaus, how they collect, store, and use credit information </a:t>
            </a:r>
          </a:p>
        </p:txBody>
      </p:sp>
      <p:sp>
        <p:nvSpPr>
          <p:cNvPr id="4" name="Slide Number Placeholder 3"/>
          <p:cNvSpPr>
            <a:spLocks noGrp="1"/>
          </p:cNvSpPr>
          <p:nvPr>
            <p:ph type="sldNum" sz="quarter" idx="5"/>
          </p:nvPr>
        </p:nvSpPr>
        <p:spPr/>
        <p:txBody>
          <a:bodyPr/>
          <a:lstStyle/>
          <a:p>
            <a:fld id="{3553C171-446B-4081-B69A-78F2C119A7EB}" type="slidenum">
              <a:rPr lang="en-US" smtClean="0"/>
              <a:t>6</a:t>
            </a:fld>
            <a:endParaRPr lang="en-US"/>
          </a:p>
        </p:txBody>
      </p:sp>
    </p:spTree>
    <p:extLst>
      <p:ext uri="{BB962C8B-B14F-4D97-AF65-F5344CB8AC3E}">
        <p14:creationId xmlns:p14="http://schemas.microsoft.com/office/powerpoint/2010/main" val="30546902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act protects financial institutions customers (banks, money order issuers, casinos, card clubs, and credit unions) from unauthorized scrutiny by the federal government.</a:t>
            </a:r>
          </a:p>
          <a:p>
            <a:endParaRPr lang="en-US" dirty="0"/>
          </a:p>
          <a:p>
            <a:r>
              <a:rPr lang="en-US" dirty="0"/>
              <a:t>In the past individuals never had an idea if their information was being turned over to the government for review and customers could not challenge the government.</a:t>
            </a:r>
          </a:p>
        </p:txBody>
      </p:sp>
      <p:sp>
        <p:nvSpPr>
          <p:cNvPr id="4" name="Slide Number Placeholder 3"/>
          <p:cNvSpPr>
            <a:spLocks noGrp="1"/>
          </p:cNvSpPr>
          <p:nvPr>
            <p:ph type="sldNum" sz="quarter" idx="5"/>
          </p:nvPr>
        </p:nvSpPr>
        <p:spPr/>
        <p:txBody>
          <a:bodyPr/>
          <a:lstStyle/>
          <a:p>
            <a:fld id="{3553C171-446B-4081-B69A-78F2C119A7EB}" type="slidenum">
              <a:rPr lang="en-US" smtClean="0"/>
              <a:t>7</a:t>
            </a:fld>
            <a:endParaRPr lang="en-US"/>
          </a:p>
        </p:txBody>
      </p:sp>
    </p:spTree>
    <p:extLst>
      <p:ext uri="{BB962C8B-B14F-4D97-AF65-F5344CB8AC3E}">
        <p14:creationId xmlns:p14="http://schemas.microsoft.com/office/powerpoint/2010/main" val="27662908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sz="1200" b="1" dirty="0"/>
              <a:t>Gramm-Leach-Bliley Act (GLBA)</a:t>
            </a:r>
            <a:r>
              <a:rPr lang="en-US" altLang="en-US" sz="1200" dirty="0"/>
              <a:t>: Bank deregulation law that includes three personal privacy rules</a:t>
            </a:r>
          </a:p>
          <a:p>
            <a:endParaRPr lang="en-US" altLang="en-US" sz="2600" dirty="0"/>
          </a:p>
          <a:p>
            <a:r>
              <a:rPr lang="en-US" altLang="en-US" sz="2600" b="1" dirty="0"/>
              <a:t>Financial privacy rule</a:t>
            </a:r>
            <a:r>
              <a:rPr lang="en-US" altLang="en-US" sz="2600" dirty="0"/>
              <a:t>: Established mandatory guidelines for the collection and disclosure of personal financial data</a:t>
            </a:r>
          </a:p>
          <a:p>
            <a:r>
              <a:rPr lang="en-US" altLang="en-US" sz="2600" b="1" dirty="0" err="1"/>
              <a:t>Opt</a:t>
            </a:r>
            <a:r>
              <a:rPr lang="en-US" altLang="en-US" sz="2600" b="1" dirty="0"/>
              <a:t> out</a:t>
            </a:r>
            <a:r>
              <a:rPr lang="en-US" altLang="en-US" sz="2600" dirty="0"/>
              <a:t>: Customers can refuse to give institutions the right to share personal data with third parties </a:t>
            </a:r>
          </a:p>
          <a:p>
            <a:r>
              <a:rPr lang="en-US" altLang="en-US" sz="2600" b="1" dirty="0" err="1"/>
              <a:t>Opt</a:t>
            </a:r>
            <a:r>
              <a:rPr lang="en-US" altLang="en-US" sz="2600" b="1" dirty="0"/>
              <a:t> in</a:t>
            </a:r>
            <a:r>
              <a:rPr lang="en-US" altLang="en-US" sz="2600" dirty="0"/>
              <a:t>: Customers who do not take action to opt out automatically opt in</a:t>
            </a:r>
          </a:p>
          <a:p>
            <a:pPr lvl="3">
              <a:spcBef>
                <a:spcPts val="300"/>
              </a:spcBef>
            </a:pPr>
            <a:endParaRPr lang="en-US" altLang="en-US" sz="2600" dirty="0"/>
          </a:p>
          <a:p>
            <a:pPr lvl="0">
              <a:spcBef>
                <a:spcPts val="300"/>
              </a:spcBef>
              <a:buClr>
                <a:schemeClr val="accent2"/>
              </a:buClr>
              <a:buFont typeface="Arial" panose="020B0604020202020204" pitchFamily="34" charset="0"/>
              <a:buChar char="•"/>
            </a:pPr>
            <a:r>
              <a:rPr lang="en-US" altLang="en-US" sz="2600" b="1" dirty="0"/>
              <a:t>Safeguards rule</a:t>
            </a:r>
            <a:r>
              <a:rPr lang="en-US" altLang="en-US" sz="2600" dirty="0"/>
              <a:t>: Requires financial institutions to document a data security plan to protect personal data </a:t>
            </a:r>
          </a:p>
          <a:p>
            <a:pPr lvl="0">
              <a:spcBef>
                <a:spcPts val="300"/>
              </a:spcBef>
              <a:buClr>
                <a:schemeClr val="accent2"/>
              </a:buClr>
              <a:buFont typeface="Arial" panose="020B0604020202020204" pitchFamily="34" charset="0"/>
              <a:buChar char="•"/>
            </a:pPr>
            <a:r>
              <a:rPr lang="en-US" altLang="en-US" sz="2600" b="1" dirty="0"/>
              <a:t>Pretexting rule: </a:t>
            </a:r>
            <a:r>
              <a:rPr lang="en-US" altLang="en-US" sz="2600" dirty="0"/>
              <a:t>Addresses attempts by people to access personal information without proper authority</a:t>
            </a:r>
            <a:endParaRPr lang="en-US" sz="2600" dirty="0"/>
          </a:p>
          <a:p>
            <a:endParaRPr lang="en-US" dirty="0"/>
          </a:p>
        </p:txBody>
      </p:sp>
      <p:sp>
        <p:nvSpPr>
          <p:cNvPr id="4" name="Slide Number Placeholder 3"/>
          <p:cNvSpPr>
            <a:spLocks noGrp="1"/>
          </p:cNvSpPr>
          <p:nvPr>
            <p:ph type="sldNum" sz="quarter" idx="5"/>
          </p:nvPr>
        </p:nvSpPr>
        <p:spPr/>
        <p:txBody>
          <a:bodyPr/>
          <a:lstStyle/>
          <a:p>
            <a:fld id="{3553C171-446B-4081-B69A-78F2C119A7EB}" type="slidenum">
              <a:rPr lang="en-US" smtClean="0"/>
              <a:t>8</a:t>
            </a:fld>
            <a:endParaRPr lang="en-US"/>
          </a:p>
        </p:txBody>
      </p:sp>
    </p:spTree>
    <p:extLst>
      <p:ext uri="{BB962C8B-B14F-4D97-AF65-F5344CB8AC3E}">
        <p14:creationId xmlns:p14="http://schemas.microsoft.com/office/powerpoint/2010/main" val="38112247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sz="2800" b="1" dirty="0"/>
              <a:t>Fair and Accurate Credit Transactions Act</a:t>
            </a:r>
            <a:r>
              <a:rPr lang="en-US" altLang="en-US" sz="2800" dirty="0"/>
              <a:t>: Allows consumers to obtain a free credit report once each year from each of the three primary consumer credit reporting companies (Equifax, Experian, and TransUnion)</a:t>
            </a:r>
          </a:p>
          <a:p>
            <a:endParaRPr lang="en-US" altLang="en-US" sz="2800" dirty="0"/>
          </a:p>
          <a:p>
            <a:r>
              <a:rPr lang="en-US" sz="2600" dirty="0"/>
              <a:t>Consumers who suspect that they have been or may become a victim of identity theft can place an alert on their credit files</a:t>
            </a:r>
            <a:endParaRPr lang="en-US" altLang="en-US" sz="2600" dirty="0"/>
          </a:p>
          <a:p>
            <a:endParaRPr lang="en-US" dirty="0"/>
          </a:p>
        </p:txBody>
      </p:sp>
      <p:sp>
        <p:nvSpPr>
          <p:cNvPr id="4" name="Slide Number Placeholder 3"/>
          <p:cNvSpPr>
            <a:spLocks noGrp="1"/>
          </p:cNvSpPr>
          <p:nvPr>
            <p:ph type="sldNum" sz="quarter" idx="5"/>
          </p:nvPr>
        </p:nvSpPr>
        <p:spPr/>
        <p:txBody>
          <a:bodyPr/>
          <a:lstStyle/>
          <a:p>
            <a:fld id="{3553C171-446B-4081-B69A-78F2C119A7EB}" type="slidenum">
              <a:rPr lang="en-US" smtClean="0"/>
              <a:t>9</a:t>
            </a:fld>
            <a:endParaRPr lang="en-US"/>
          </a:p>
        </p:txBody>
      </p:sp>
    </p:spTree>
    <p:extLst>
      <p:ext uri="{BB962C8B-B14F-4D97-AF65-F5344CB8AC3E}">
        <p14:creationId xmlns:p14="http://schemas.microsoft.com/office/powerpoint/2010/main" val="27882413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the fact that data is stored electronically and can be transferred between different organizations, individuals fear the access of their health information by employers, schools and law enforcement agencies. The laws addressing these issues are …</a:t>
            </a:r>
          </a:p>
        </p:txBody>
      </p:sp>
      <p:sp>
        <p:nvSpPr>
          <p:cNvPr id="4" name="Slide Number Placeholder 3"/>
          <p:cNvSpPr>
            <a:spLocks noGrp="1"/>
          </p:cNvSpPr>
          <p:nvPr>
            <p:ph type="sldNum" sz="quarter" idx="5"/>
          </p:nvPr>
        </p:nvSpPr>
        <p:spPr/>
        <p:txBody>
          <a:bodyPr/>
          <a:lstStyle/>
          <a:p>
            <a:fld id="{3553C171-446B-4081-B69A-78F2C119A7EB}" type="slidenum">
              <a:rPr lang="en-US" smtClean="0"/>
              <a:t>10</a:t>
            </a:fld>
            <a:endParaRPr lang="en-US"/>
          </a:p>
        </p:txBody>
      </p:sp>
    </p:spTree>
    <p:extLst>
      <p:ext uri="{BB962C8B-B14F-4D97-AF65-F5344CB8AC3E}">
        <p14:creationId xmlns:p14="http://schemas.microsoft.com/office/powerpoint/2010/main" val="7983215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HIPAA includes provisions designed to</a:t>
            </a:r>
          </a:p>
        </p:txBody>
      </p:sp>
      <p:sp>
        <p:nvSpPr>
          <p:cNvPr id="4" name="Slide Number Placeholder 3"/>
          <p:cNvSpPr>
            <a:spLocks noGrp="1"/>
          </p:cNvSpPr>
          <p:nvPr>
            <p:ph type="sldNum" sz="quarter" idx="5"/>
          </p:nvPr>
        </p:nvSpPr>
        <p:spPr/>
        <p:txBody>
          <a:bodyPr/>
          <a:lstStyle/>
          <a:p>
            <a:fld id="{3553C171-446B-4081-B69A-78F2C119A7EB}" type="slidenum">
              <a:rPr lang="en-US" smtClean="0"/>
              <a:t>11</a:t>
            </a:fld>
            <a:endParaRPr lang="en-US"/>
          </a:p>
        </p:txBody>
      </p:sp>
    </p:spTree>
    <p:extLst>
      <p:ext uri="{BB962C8B-B14F-4D97-AF65-F5344CB8AC3E}">
        <p14:creationId xmlns:p14="http://schemas.microsoft.com/office/powerpoint/2010/main" val="37779369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American recovery and reinvestment act…</a:t>
            </a:r>
          </a:p>
        </p:txBody>
      </p:sp>
      <p:sp>
        <p:nvSpPr>
          <p:cNvPr id="4" name="Slide Number Placeholder 3"/>
          <p:cNvSpPr>
            <a:spLocks noGrp="1"/>
          </p:cNvSpPr>
          <p:nvPr>
            <p:ph type="sldNum" sz="quarter" idx="5"/>
          </p:nvPr>
        </p:nvSpPr>
        <p:spPr/>
        <p:txBody>
          <a:bodyPr/>
          <a:lstStyle/>
          <a:p>
            <a:fld id="{3553C171-446B-4081-B69A-78F2C119A7EB}" type="slidenum">
              <a:rPr lang="en-US" smtClean="0"/>
              <a:t>12</a:t>
            </a:fld>
            <a:endParaRPr lang="en-US"/>
          </a:p>
        </p:txBody>
      </p:sp>
    </p:spTree>
    <p:extLst>
      <p:ext uri="{BB962C8B-B14F-4D97-AF65-F5344CB8AC3E}">
        <p14:creationId xmlns:p14="http://schemas.microsoft.com/office/powerpoint/2010/main" val="21954445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the high of kids time spent online only a few acts have been put in place to ensure the safe surfing of the internet and these are the …..</a:t>
            </a:r>
          </a:p>
        </p:txBody>
      </p:sp>
      <p:sp>
        <p:nvSpPr>
          <p:cNvPr id="4" name="Slide Number Placeholder 3"/>
          <p:cNvSpPr>
            <a:spLocks noGrp="1"/>
          </p:cNvSpPr>
          <p:nvPr>
            <p:ph type="sldNum" sz="quarter" idx="5"/>
          </p:nvPr>
        </p:nvSpPr>
        <p:spPr/>
        <p:txBody>
          <a:bodyPr/>
          <a:lstStyle/>
          <a:p>
            <a:fld id="{3553C171-446B-4081-B69A-78F2C119A7EB}" type="slidenum">
              <a:rPr lang="en-US" smtClean="0"/>
              <a:t>13</a:t>
            </a:fld>
            <a:endParaRPr lang="en-US"/>
          </a:p>
        </p:txBody>
      </p:sp>
    </p:spTree>
    <p:extLst>
      <p:ext uri="{BB962C8B-B14F-4D97-AF65-F5344CB8AC3E}">
        <p14:creationId xmlns:p14="http://schemas.microsoft.com/office/powerpoint/2010/main" val="38193563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200" dirty="0"/>
              <a:t>Assigns parents rights regarding their children’s educational records, including rights to:</a:t>
            </a:r>
            <a:endParaRPr lang="en-US" sz="1200" dirty="0"/>
          </a:p>
          <a:p>
            <a:endParaRPr lang="en-US" dirty="0"/>
          </a:p>
        </p:txBody>
      </p:sp>
      <p:sp>
        <p:nvSpPr>
          <p:cNvPr id="4" name="Slide Number Placeholder 3"/>
          <p:cNvSpPr>
            <a:spLocks noGrp="1"/>
          </p:cNvSpPr>
          <p:nvPr>
            <p:ph type="sldNum" sz="quarter" idx="5"/>
          </p:nvPr>
        </p:nvSpPr>
        <p:spPr/>
        <p:txBody>
          <a:bodyPr/>
          <a:lstStyle/>
          <a:p>
            <a:fld id="{3553C171-446B-4081-B69A-78F2C119A7EB}" type="slidenum">
              <a:rPr lang="en-US" smtClean="0"/>
              <a:t>14</a:t>
            </a:fld>
            <a:endParaRPr lang="en-US"/>
          </a:p>
        </p:txBody>
      </p:sp>
    </p:spTree>
    <p:extLst>
      <p:ext uri="{BB962C8B-B14F-4D97-AF65-F5344CB8AC3E}">
        <p14:creationId xmlns:p14="http://schemas.microsoft.com/office/powerpoint/2010/main" val="33241942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concept discusses government surveillance, including various forms of electronic surveillance, as well as some of the laws governing those activities.</a:t>
            </a:r>
          </a:p>
        </p:txBody>
      </p:sp>
      <p:sp>
        <p:nvSpPr>
          <p:cNvPr id="4" name="Slide Number Placeholder 3"/>
          <p:cNvSpPr>
            <a:spLocks noGrp="1"/>
          </p:cNvSpPr>
          <p:nvPr>
            <p:ph type="sldNum" sz="quarter" idx="5"/>
          </p:nvPr>
        </p:nvSpPr>
        <p:spPr/>
        <p:txBody>
          <a:bodyPr/>
          <a:lstStyle/>
          <a:p>
            <a:fld id="{3553C171-446B-4081-B69A-78F2C119A7EB}" type="slidenum">
              <a:rPr lang="en-US" smtClean="0"/>
              <a:t>16</a:t>
            </a:fld>
            <a:endParaRPr lang="en-US"/>
          </a:p>
        </p:txBody>
      </p:sp>
    </p:spTree>
    <p:extLst>
      <p:ext uri="{BB962C8B-B14F-4D97-AF65-F5344CB8AC3E}">
        <p14:creationId xmlns:p14="http://schemas.microsoft.com/office/powerpoint/2010/main" val="12956501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dirty="0"/>
          </a:p>
          <a:p>
            <a:r>
              <a:rPr lang="en-US" sz="1200" b="1" dirty="0"/>
              <a:t>Wire tapping </a:t>
            </a:r>
            <a:r>
              <a:rPr lang="en-US" sz="1200" b="0" i="0" kern="1200" dirty="0">
                <a:solidFill>
                  <a:schemeClr val="tx1"/>
                </a:solidFill>
                <a:effectLst/>
                <a:latin typeface="+mn-lt"/>
                <a:ea typeface="+mn-ea"/>
                <a:cs typeface="+mn-cs"/>
              </a:rPr>
              <a:t>is the practice of connecting a listening device to a telephone line to secretly monitor a conversation</a:t>
            </a:r>
            <a:endParaRPr lang="en-US" b="1" dirty="0"/>
          </a:p>
        </p:txBody>
      </p:sp>
      <p:sp>
        <p:nvSpPr>
          <p:cNvPr id="4" name="Slide Number Placeholder 3"/>
          <p:cNvSpPr>
            <a:spLocks noGrp="1"/>
          </p:cNvSpPr>
          <p:nvPr>
            <p:ph type="sldNum" sz="quarter" idx="5"/>
          </p:nvPr>
        </p:nvSpPr>
        <p:spPr/>
        <p:txBody>
          <a:bodyPr/>
          <a:lstStyle/>
          <a:p>
            <a:fld id="{3553C171-446B-4081-B69A-78F2C119A7EB}" type="slidenum">
              <a:rPr lang="en-US" smtClean="0"/>
              <a:t>17</a:t>
            </a:fld>
            <a:endParaRPr lang="en-US"/>
          </a:p>
        </p:txBody>
      </p:sp>
    </p:spTree>
    <p:extLst>
      <p:ext uri="{BB962C8B-B14F-4D97-AF65-F5344CB8AC3E}">
        <p14:creationId xmlns:p14="http://schemas.microsoft.com/office/powerpoint/2010/main" val="18187812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200" dirty="0"/>
              <a:t>Describes procedures for electronic surveillance and collection of foreign intelligence information in communications between foreign powers and their agents</a:t>
            </a:r>
          </a:p>
          <a:p>
            <a:endParaRPr lang="en-US" dirty="0"/>
          </a:p>
        </p:txBody>
      </p:sp>
      <p:sp>
        <p:nvSpPr>
          <p:cNvPr id="4" name="Slide Number Placeholder 3"/>
          <p:cNvSpPr>
            <a:spLocks noGrp="1"/>
          </p:cNvSpPr>
          <p:nvPr>
            <p:ph type="sldNum" sz="quarter" idx="5"/>
          </p:nvPr>
        </p:nvSpPr>
        <p:spPr/>
        <p:txBody>
          <a:bodyPr/>
          <a:lstStyle/>
          <a:p>
            <a:fld id="{3553C171-446B-4081-B69A-78F2C119A7EB}" type="slidenum">
              <a:rPr lang="en-US" smtClean="0"/>
              <a:t>18</a:t>
            </a:fld>
            <a:endParaRPr lang="en-US"/>
          </a:p>
        </p:txBody>
      </p:sp>
    </p:spTree>
    <p:extLst>
      <p:ext uri="{BB962C8B-B14F-4D97-AF65-F5344CB8AC3E}">
        <p14:creationId xmlns:p14="http://schemas.microsoft.com/office/powerpoint/2010/main" val="16375103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sz="1200" dirty="0"/>
              <a:t>I</a:t>
            </a:r>
            <a:r>
              <a:rPr lang="en-US" sz="1200" dirty="0"/>
              <a:t>dentifies the various U.S. governmental intelligence-gathering agencies, and defines what information can be collected, retained, and disseminated by these agencies</a:t>
            </a:r>
            <a:endParaRPr lang="en-US" dirty="0"/>
          </a:p>
        </p:txBody>
      </p:sp>
      <p:sp>
        <p:nvSpPr>
          <p:cNvPr id="4" name="Slide Number Placeholder 3"/>
          <p:cNvSpPr>
            <a:spLocks noGrp="1"/>
          </p:cNvSpPr>
          <p:nvPr>
            <p:ph type="sldNum" sz="quarter" idx="5"/>
          </p:nvPr>
        </p:nvSpPr>
        <p:spPr/>
        <p:txBody>
          <a:bodyPr/>
          <a:lstStyle/>
          <a:p>
            <a:fld id="{3553C171-446B-4081-B69A-78F2C119A7EB}" type="slidenum">
              <a:rPr lang="en-US" smtClean="0"/>
              <a:t>19</a:t>
            </a:fld>
            <a:endParaRPr lang="en-US"/>
          </a:p>
        </p:txBody>
      </p:sp>
    </p:spTree>
    <p:extLst>
      <p:ext uri="{BB962C8B-B14F-4D97-AF65-F5344CB8AC3E}">
        <p14:creationId xmlns:p14="http://schemas.microsoft.com/office/powerpoint/2010/main" val="27312068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200" dirty="0"/>
              <a:t>Law passed </a:t>
            </a:r>
            <a:r>
              <a:rPr lang="en-US" sz="1200" dirty="0"/>
              <a:t>as an amendment to Title III of the Omnibus Crime Control and Safe Streets Act; deals with three main issues:</a:t>
            </a:r>
            <a:endParaRPr lang="en-US" altLang="en-US" sz="1200" dirty="0"/>
          </a:p>
          <a:p>
            <a:endParaRPr lang="en-US" dirty="0"/>
          </a:p>
        </p:txBody>
      </p:sp>
      <p:sp>
        <p:nvSpPr>
          <p:cNvPr id="4" name="Slide Number Placeholder 3"/>
          <p:cNvSpPr>
            <a:spLocks noGrp="1"/>
          </p:cNvSpPr>
          <p:nvPr>
            <p:ph type="sldNum" sz="quarter" idx="5"/>
          </p:nvPr>
        </p:nvSpPr>
        <p:spPr/>
        <p:txBody>
          <a:bodyPr/>
          <a:lstStyle/>
          <a:p>
            <a:fld id="{3553C171-446B-4081-B69A-78F2C119A7EB}" type="slidenum">
              <a:rPr lang="en-US" smtClean="0"/>
              <a:t>20</a:t>
            </a:fld>
            <a:endParaRPr lang="en-US"/>
          </a:p>
        </p:txBody>
      </p:sp>
    </p:spTree>
    <p:extLst>
      <p:ext uri="{BB962C8B-B14F-4D97-AF65-F5344CB8AC3E}">
        <p14:creationId xmlns:p14="http://schemas.microsoft.com/office/powerpoint/2010/main" val="245673459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Issued by the FBI director to an ISP; requires the ISP to provide various data and records about a service subscriber.</a:t>
            </a:r>
          </a:p>
          <a:p>
            <a:endParaRPr lang="en-US" dirty="0"/>
          </a:p>
          <a:p>
            <a:r>
              <a:rPr lang="en-US" sz="1200" b="1" dirty="0"/>
              <a:t>Pen register: </a:t>
            </a:r>
            <a:r>
              <a:rPr lang="en-US" sz="1200" dirty="0"/>
              <a:t>A device that records electronic impulses to identify the numbers dialed for outgoing calls</a:t>
            </a:r>
          </a:p>
          <a:p>
            <a:r>
              <a:rPr lang="en-US" sz="1200" b="1" dirty="0"/>
              <a:t>Trap and trace: </a:t>
            </a:r>
            <a:r>
              <a:rPr lang="en-US" sz="1200" dirty="0"/>
              <a:t>A device that records the originating number of incoming calls for a particular phone number</a:t>
            </a:r>
          </a:p>
          <a:p>
            <a:endParaRPr lang="en-US" dirty="0"/>
          </a:p>
        </p:txBody>
      </p:sp>
      <p:sp>
        <p:nvSpPr>
          <p:cNvPr id="4" name="Slide Number Placeholder 3"/>
          <p:cNvSpPr>
            <a:spLocks noGrp="1"/>
          </p:cNvSpPr>
          <p:nvPr>
            <p:ph type="sldNum" sz="quarter" idx="5"/>
          </p:nvPr>
        </p:nvSpPr>
        <p:spPr/>
        <p:txBody>
          <a:bodyPr/>
          <a:lstStyle/>
          <a:p>
            <a:fld id="{3553C171-446B-4081-B69A-78F2C119A7EB}" type="slidenum">
              <a:rPr lang="en-US" smtClean="0"/>
              <a:t>21</a:t>
            </a:fld>
            <a:endParaRPr lang="en-US"/>
          </a:p>
        </p:txBody>
      </p:sp>
    </p:spTree>
    <p:extLst>
      <p:ext uri="{BB962C8B-B14F-4D97-AF65-F5344CB8AC3E}">
        <p14:creationId xmlns:p14="http://schemas.microsoft.com/office/powerpoint/2010/main" val="383178690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200" dirty="0"/>
              <a:t>Ga</a:t>
            </a:r>
            <a:r>
              <a:rPr lang="en-US" sz="1200" dirty="0"/>
              <a:t>ve sweeping new powers to both domestic law enforcement and U.S. international intelligence agencies</a:t>
            </a:r>
          </a:p>
          <a:p>
            <a:endParaRPr lang="en-US" dirty="0"/>
          </a:p>
        </p:txBody>
      </p:sp>
      <p:sp>
        <p:nvSpPr>
          <p:cNvPr id="4" name="Slide Number Placeholder 3"/>
          <p:cNvSpPr>
            <a:spLocks noGrp="1"/>
          </p:cNvSpPr>
          <p:nvPr>
            <p:ph type="sldNum" sz="quarter" idx="5"/>
          </p:nvPr>
        </p:nvSpPr>
        <p:spPr/>
        <p:txBody>
          <a:bodyPr/>
          <a:lstStyle/>
          <a:p>
            <a:fld id="{3553C171-446B-4081-B69A-78F2C119A7EB}" type="slidenum">
              <a:rPr lang="en-US" smtClean="0"/>
              <a:t>23</a:t>
            </a:fld>
            <a:endParaRPr lang="en-US"/>
          </a:p>
        </p:txBody>
      </p:sp>
    </p:spTree>
    <p:extLst>
      <p:ext uri="{BB962C8B-B14F-4D97-AF65-F5344CB8AC3E}">
        <p14:creationId xmlns:p14="http://schemas.microsoft.com/office/powerpoint/2010/main" val="236998445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Law passed following revelations by Edward Snowden (a former government contractor who leaked classified information) of secret NSA surveillance programs</a:t>
            </a:r>
          </a:p>
          <a:p>
            <a:endParaRPr lang="en-US" dirty="0"/>
          </a:p>
        </p:txBody>
      </p:sp>
      <p:sp>
        <p:nvSpPr>
          <p:cNvPr id="4" name="Slide Number Placeholder 3"/>
          <p:cNvSpPr>
            <a:spLocks noGrp="1"/>
          </p:cNvSpPr>
          <p:nvPr>
            <p:ph type="sldNum" sz="quarter" idx="5"/>
          </p:nvPr>
        </p:nvSpPr>
        <p:spPr/>
        <p:txBody>
          <a:bodyPr/>
          <a:lstStyle/>
          <a:p>
            <a:fld id="{3553C171-446B-4081-B69A-78F2C119A7EB}" type="slidenum">
              <a:rPr lang="en-US" smtClean="0"/>
              <a:t>27</a:t>
            </a:fld>
            <a:endParaRPr lang="en-US"/>
          </a:p>
        </p:txBody>
      </p:sp>
    </p:spTree>
    <p:extLst>
      <p:ext uri="{BB962C8B-B14F-4D97-AF65-F5344CB8AC3E}">
        <p14:creationId xmlns:p14="http://schemas.microsoft.com/office/powerpoint/2010/main" val="35712768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term of guidelines for the collection and use of personal data</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Fair information practices form the underlying basis for many national laws addressing data privacy and data protection issues</a:t>
            </a:r>
            <a:endParaRPr lang="en-US" altLang="en-US" sz="1600" dirty="0"/>
          </a:p>
          <a:p>
            <a:endParaRPr lang="en-US" dirty="0"/>
          </a:p>
        </p:txBody>
      </p:sp>
      <p:sp>
        <p:nvSpPr>
          <p:cNvPr id="4" name="Slide Number Placeholder 3"/>
          <p:cNvSpPr>
            <a:spLocks noGrp="1"/>
          </p:cNvSpPr>
          <p:nvPr>
            <p:ph type="sldNum" sz="quarter" idx="5"/>
          </p:nvPr>
        </p:nvSpPr>
        <p:spPr/>
        <p:txBody>
          <a:bodyPr/>
          <a:lstStyle/>
          <a:p>
            <a:fld id="{3553C171-446B-4081-B69A-78F2C119A7EB}" type="slidenum">
              <a:rPr lang="en-US" smtClean="0"/>
              <a:t>28</a:t>
            </a:fld>
            <a:endParaRPr lang="en-US"/>
          </a:p>
        </p:txBody>
      </p:sp>
    </p:spTree>
    <p:extLst>
      <p:ext uri="{BB962C8B-B14F-4D97-AF65-F5344CB8AC3E}">
        <p14:creationId xmlns:p14="http://schemas.microsoft.com/office/powerpoint/2010/main" val="320745208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200" dirty="0"/>
              <a:t>Ensures that data transferred to non-European Union countries is protected</a:t>
            </a:r>
          </a:p>
          <a:p>
            <a:endParaRPr lang="en-US" dirty="0"/>
          </a:p>
        </p:txBody>
      </p:sp>
      <p:sp>
        <p:nvSpPr>
          <p:cNvPr id="4" name="Slide Number Placeholder 3"/>
          <p:cNvSpPr>
            <a:spLocks noGrp="1"/>
          </p:cNvSpPr>
          <p:nvPr>
            <p:ph type="sldNum" sz="quarter" idx="5"/>
          </p:nvPr>
        </p:nvSpPr>
        <p:spPr/>
        <p:txBody>
          <a:bodyPr/>
          <a:lstStyle/>
          <a:p>
            <a:fld id="{3553C171-446B-4081-B69A-78F2C119A7EB}" type="slidenum">
              <a:rPr lang="en-US" smtClean="0"/>
              <a:t>30</a:t>
            </a:fld>
            <a:endParaRPr lang="en-US"/>
          </a:p>
        </p:txBody>
      </p:sp>
    </p:spTree>
    <p:extLst>
      <p:ext uri="{BB962C8B-B14F-4D97-AF65-F5344CB8AC3E}">
        <p14:creationId xmlns:p14="http://schemas.microsoft.com/office/powerpoint/2010/main" val="252997431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200" dirty="0"/>
              <a:t>An EU regulation passed in 2016; designed to strengthen data protection for individuals within the EU</a:t>
            </a:r>
          </a:p>
          <a:p>
            <a:endParaRPr lang="en-US" dirty="0"/>
          </a:p>
        </p:txBody>
      </p:sp>
      <p:sp>
        <p:nvSpPr>
          <p:cNvPr id="4" name="Slide Number Placeholder 3"/>
          <p:cNvSpPr>
            <a:spLocks noGrp="1"/>
          </p:cNvSpPr>
          <p:nvPr>
            <p:ph type="sldNum" sz="quarter" idx="5"/>
          </p:nvPr>
        </p:nvSpPr>
        <p:spPr/>
        <p:txBody>
          <a:bodyPr/>
          <a:lstStyle/>
          <a:p>
            <a:fld id="{3553C171-446B-4081-B69A-78F2C119A7EB}" type="slidenum">
              <a:rPr lang="en-US" smtClean="0"/>
              <a:t>32</a:t>
            </a:fld>
            <a:endParaRPr lang="en-US"/>
          </a:p>
        </p:txBody>
      </p:sp>
    </p:spTree>
    <p:extLst>
      <p:ext uri="{BB962C8B-B14F-4D97-AF65-F5344CB8AC3E}">
        <p14:creationId xmlns:p14="http://schemas.microsoft.com/office/powerpoint/2010/main" val="46416178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 the government can store data about each and every one of use, the freedom of information act enables the public to gain access to certain government records and the</a:t>
            </a:r>
          </a:p>
          <a:p>
            <a:r>
              <a:rPr lang="en-US" dirty="0"/>
              <a:t>Privacy act stops the government from concealing the existence of any data record keeping system. </a:t>
            </a:r>
          </a:p>
        </p:txBody>
      </p:sp>
      <p:sp>
        <p:nvSpPr>
          <p:cNvPr id="4" name="Slide Number Placeholder 3"/>
          <p:cNvSpPr>
            <a:spLocks noGrp="1"/>
          </p:cNvSpPr>
          <p:nvPr>
            <p:ph type="sldNum" sz="quarter" idx="5"/>
          </p:nvPr>
        </p:nvSpPr>
        <p:spPr/>
        <p:txBody>
          <a:bodyPr/>
          <a:lstStyle/>
          <a:p>
            <a:fld id="{3553C171-446B-4081-B69A-78F2C119A7EB}" type="slidenum">
              <a:rPr lang="en-US" smtClean="0"/>
              <a:t>33</a:t>
            </a:fld>
            <a:endParaRPr lang="en-US"/>
          </a:p>
        </p:txBody>
      </p:sp>
    </p:spTree>
    <p:extLst>
      <p:ext uri="{BB962C8B-B14F-4D97-AF65-F5344CB8AC3E}">
        <p14:creationId xmlns:p14="http://schemas.microsoft.com/office/powerpoint/2010/main" val="112793599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sz="1200" dirty="0"/>
              <a:t>Grants citizens the right to access certain information and records of federal, state, and local governments upon request</a:t>
            </a:r>
            <a:endParaRPr lang="en-US" dirty="0"/>
          </a:p>
        </p:txBody>
      </p:sp>
      <p:sp>
        <p:nvSpPr>
          <p:cNvPr id="4" name="Slide Number Placeholder 3"/>
          <p:cNvSpPr>
            <a:spLocks noGrp="1"/>
          </p:cNvSpPr>
          <p:nvPr>
            <p:ph type="sldNum" sz="quarter" idx="5"/>
          </p:nvPr>
        </p:nvSpPr>
        <p:spPr/>
        <p:txBody>
          <a:bodyPr/>
          <a:lstStyle/>
          <a:p>
            <a:fld id="{3553C171-446B-4081-B69A-78F2C119A7EB}" type="slidenum">
              <a:rPr lang="en-US" smtClean="0"/>
              <a:t>34</a:t>
            </a:fld>
            <a:endParaRPr lang="en-US"/>
          </a:p>
        </p:txBody>
      </p:sp>
    </p:spTree>
    <p:extLst>
      <p:ext uri="{BB962C8B-B14F-4D97-AF65-F5344CB8AC3E}">
        <p14:creationId xmlns:p14="http://schemas.microsoft.com/office/powerpoint/2010/main" val="232484847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sz="1200" dirty="0"/>
              <a:t>Sets rules for the collection, use, and dissemination of personal data kept by federal agencies</a:t>
            </a:r>
            <a:endParaRPr lang="en-US" dirty="0"/>
          </a:p>
        </p:txBody>
      </p:sp>
      <p:sp>
        <p:nvSpPr>
          <p:cNvPr id="4" name="Slide Number Placeholder 3"/>
          <p:cNvSpPr>
            <a:spLocks noGrp="1"/>
          </p:cNvSpPr>
          <p:nvPr>
            <p:ph type="sldNum" sz="quarter" idx="5"/>
          </p:nvPr>
        </p:nvSpPr>
        <p:spPr/>
        <p:txBody>
          <a:bodyPr/>
          <a:lstStyle/>
          <a:p>
            <a:fld id="{3553C171-446B-4081-B69A-78F2C119A7EB}" type="slidenum">
              <a:rPr lang="en-US" smtClean="0"/>
              <a:t>35</a:t>
            </a:fld>
            <a:endParaRPr lang="en-US"/>
          </a:p>
        </p:txBody>
      </p:sp>
    </p:spTree>
    <p:extLst>
      <p:ext uri="{BB962C8B-B14F-4D97-AF65-F5344CB8AC3E}">
        <p14:creationId xmlns:p14="http://schemas.microsoft.com/office/powerpoint/2010/main" val="172469642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 discusses several current and important privacy issues</a:t>
            </a:r>
            <a:endParaRPr lang="en-US" dirty="0"/>
          </a:p>
        </p:txBody>
      </p:sp>
      <p:sp>
        <p:nvSpPr>
          <p:cNvPr id="4" name="Slide Number Placeholder 3"/>
          <p:cNvSpPr>
            <a:spLocks noGrp="1"/>
          </p:cNvSpPr>
          <p:nvPr>
            <p:ph type="sldNum" sz="quarter" idx="5"/>
          </p:nvPr>
        </p:nvSpPr>
        <p:spPr/>
        <p:txBody>
          <a:bodyPr/>
          <a:lstStyle/>
          <a:p>
            <a:fld id="{3553C171-446B-4081-B69A-78F2C119A7EB}" type="slidenum">
              <a:rPr lang="en-US" smtClean="0"/>
              <a:t>36</a:t>
            </a:fld>
            <a:endParaRPr lang="en-US"/>
          </a:p>
        </p:txBody>
      </p:sp>
    </p:spTree>
    <p:extLst>
      <p:ext uri="{BB962C8B-B14F-4D97-AF65-F5344CB8AC3E}">
        <p14:creationId xmlns:p14="http://schemas.microsoft.com/office/powerpoint/2010/main" val="325030377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200" dirty="0"/>
              <a:t>Information about web surfers can be obtained through the use of: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200" b="1" dirty="0"/>
              <a:t>Cookies</a:t>
            </a:r>
            <a:r>
              <a:rPr lang="en-US" altLang="en-US" sz="1200" dirty="0"/>
              <a:t>: T</a:t>
            </a:r>
            <a:r>
              <a:rPr lang="en-US" sz="1200" dirty="0"/>
              <a:t>ext files that can be downloaded to the hard drives of users who visit a website, so that the website is able to identify visitors on subsequent visits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200" b="1" dirty="0"/>
              <a:t>Tracking software</a:t>
            </a:r>
            <a:r>
              <a:rPr lang="en-US" altLang="en-US" sz="1200" dirty="0"/>
              <a:t>: Allows a website </a:t>
            </a:r>
            <a:r>
              <a:rPr lang="en-US" sz="1200" dirty="0"/>
              <a:t>to analyze browsing habits and deduce personal interests and preferences</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endParaRPr lang="en-US" dirty="0"/>
          </a:p>
        </p:txBody>
      </p:sp>
      <p:sp>
        <p:nvSpPr>
          <p:cNvPr id="4" name="Slide Number Placeholder 3"/>
          <p:cNvSpPr>
            <a:spLocks noGrp="1"/>
          </p:cNvSpPr>
          <p:nvPr>
            <p:ph type="sldNum" sz="quarter" idx="5"/>
          </p:nvPr>
        </p:nvSpPr>
        <p:spPr/>
        <p:txBody>
          <a:bodyPr/>
          <a:lstStyle/>
          <a:p>
            <a:fld id="{3553C171-446B-4081-B69A-78F2C119A7EB}" type="slidenum">
              <a:rPr lang="en-US" smtClean="0"/>
              <a:t>37</a:t>
            </a:fld>
            <a:endParaRPr lang="en-US"/>
          </a:p>
        </p:txBody>
      </p:sp>
    </p:spTree>
    <p:extLst>
      <p:ext uri="{BB962C8B-B14F-4D97-AF65-F5344CB8AC3E}">
        <p14:creationId xmlns:p14="http://schemas.microsoft.com/office/powerpoint/2010/main" val="207004806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t>Electronic discovery (e-discovery): </a:t>
            </a:r>
            <a:r>
              <a:rPr lang="en-US" sz="1200" dirty="0"/>
              <a:t>The c</a:t>
            </a:r>
            <a:r>
              <a:rPr lang="en-US" altLang="en-US" sz="1200" dirty="0"/>
              <a:t>ollection, preparation, review, and production of electronically stored information for use in criminal and civil actions</a:t>
            </a:r>
          </a:p>
          <a:p>
            <a:endParaRPr lang="en-US" altLang="en-US" sz="1200" dirty="0"/>
          </a:p>
          <a:p>
            <a:r>
              <a:rPr lang="en-US" altLang="en-US" sz="1200" b="1" dirty="0"/>
              <a:t>Electronically stored information (ESI)</a:t>
            </a:r>
            <a:r>
              <a:rPr lang="en-US" altLang="en-US" sz="1200" dirty="0"/>
              <a:t>:</a:t>
            </a:r>
            <a:r>
              <a:rPr lang="en-US" altLang="en-US" sz="1200" b="1" dirty="0"/>
              <a:t> </a:t>
            </a:r>
            <a:r>
              <a:rPr lang="en-US" altLang="en-US" sz="1200" dirty="0"/>
              <a:t>Any form of digital information stored on any form of electronic storage device</a:t>
            </a:r>
          </a:p>
          <a:p>
            <a:endParaRPr lang="en-US" altLang="en-US" sz="1200" dirty="0"/>
          </a:p>
          <a:p>
            <a:r>
              <a:rPr lang="en-US" sz="1200" b="1" dirty="0"/>
              <a:t>Predictive coding: </a:t>
            </a:r>
            <a:r>
              <a:rPr lang="en-US" sz="1200" dirty="0"/>
              <a:t>A process that couples human guidance with computer-driven concept searching in order to “train” document review software to recognize relevant documents</a:t>
            </a:r>
          </a:p>
          <a:p>
            <a:endParaRPr lang="en-US" dirty="0"/>
          </a:p>
        </p:txBody>
      </p:sp>
      <p:sp>
        <p:nvSpPr>
          <p:cNvPr id="4" name="Slide Number Placeholder 3"/>
          <p:cNvSpPr>
            <a:spLocks noGrp="1"/>
          </p:cNvSpPr>
          <p:nvPr>
            <p:ph type="sldNum" sz="quarter" idx="5"/>
          </p:nvPr>
        </p:nvSpPr>
        <p:spPr/>
        <p:txBody>
          <a:bodyPr/>
          <a:lstStyle/>
          <a:p>
            <a:fld id="{3553C171-446B-4081-B69A-78F2C119A7EB}" type="slidenum">
              <a:rPr lang="en-US" smtClean="0"/>
              <a:t>39</a:t>
            </a:fld>
            <a:endParaRPr lang="en-US"/>
          </a:p>
        </p:txBody>
      </p:sp>
    </p:spTree>
    <p:extLst>
      <p:ext uri="{BB962C8B-B14F-4D97-AF65-F5344CB8AC3E}">
        <p14:creationId xmlns:p14="http://schemas.microsoft.com/office/powerpoint/2010/main" val="259099098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Using the Internet for purposes unrelated to work, such as posting to Facebook, sending personal emails or texts, or shopping online</a:t>
            </a:r>
            <a:endParaRPr lang="en-US" dirty="0"/>
          </a:p>
        </p:txBody>
      </p:sp>
      <p:sp>
        <p:nvSpPr>
          <p:cNvPr id="4" name="Slide Number Placeholder 3"/>
          <p:cNvSpPr>
            <a:spLocks noGrp="1"/>
          </p:cNvSpPr>
          <p:nvPr>
            <p:ph type="sldNum" sz="quarter" idx="5"/>
          </p:nvPr>
        </p:nvSpPr>
        <p:spPr/>
        <p:txBody>
          <a:bodyPr/>
          <a:lstStyle/>
          <a:p>
            <a:fld id="{3553C171-446B-4081-B69A-78F2C119A7EB}" type="slidenum">
              <a:rPr lang="en-US" smtClean="0"/>
              <a:t>40</a:t>
            </a:fld>
            <a:endParaRPr lang="en-US"/>
          </a:p>
        </p:txBody>
      </p:sp>
    </p:spTree>
    <p:extLst>
      <p:ext uri="{BB962C8B-B14F-4D97-AF65-F5344CB8AC3E}">
        <p14:creationId xmlns:p14="http://schemas.microsoft.com/office/powerpoint/2010/main" val="286297292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200" dirty="0"/>
              <a:t>A device that records vehicle and occupant data for a few seconds before, during, and after any vehicle crash severe enough to deploy the vehicle’s air bags</a:t>
            </a:r>
          </a:p>
          <a:p>
            <a:endParaRPr lang="en-US" dirty="0"/>
          </a:p>
        </p:txBody>
      </p:sp>
      <p:sp>
        <p:nvSpPr>
          <p:cNvPr id="4" name="Slide Number Placeholder 3"/>
          <p:cNvSpPr>
            <a:spLocks noGrp="1"/>
          </p:cNvSpPr>
          <p:nvPr>
            <p:ph type="sldNum" sz="quarter" idx="5"/>
          </p:nvPr>
        </p:nvSpPr>
        <p:spPr/>
        <p:txBody>
          <a:bodyPr/>
          <a:lstStyle/>
          <a:p>
            <a:fld id="{3553C171-446B-4081-B69A-78F2C119A7EB}" type="slidenum">
              <a:rPr lang="en-US" smtClean="0"/>
              <a:t>42</a:t>
            </a:fld>
            <a:endParaRPr lang="en-US"/>
          </a:p>
        </p:txBody>
      </p:sp>
    </p:spTree>
    <p:extLst>
      <p:ext uri="{BB962C8B-B14F-4D97-AF65-F5344CB8AC3E}">
        <p14:creationId xmlns:p14="http://schemas.microsoft.com/office/powerpoint/2010/main" val="341161209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sz="1200" dirty="0"/>
              <a:t>Software that can be loaded onto a cell phone or smartphone</a:t>
            </a:r>
            <a:endParaRPr lang="en-US" dirty="0"/>
          </a:p>
        </p:txBody>
      </p:sp>
      <p:sp>
        <p:nvSpPr>
          <p:cNvPr id="4" name="Slide Number Placeholder 3"/>
          <p:cNvSpPr>
            <a:spLocks noGrp="1"/>
          </p:cNvSpPr>
          <p:nvPr>
            <p:ph type="sldNum" sz="quarter" idx="5"/>
          </p:nvPr>
        </p:nvSpPr>
        <p:spPr/>
        <p:txBody>
          <a:bodyPr/>
          <a:lstStyle/>
          <a:p>
            <a:fld id="{3553C171-446B-4081-B69A-78F2C119A7EB}" type="slidenum">
              <a:rPr lang="en-US" smtClean="0"/>
              <a:t>43</a:t>
            </a:fld>
            <a:endParaRPr lang="en-US"/>
          </a:p>
        </p:txBody>
      </p:sp>
    </p:spTree>
    <p:extLst>
      <p:ext uri="{BB962C8B-B14F-4D97-AF65-F5344CB8AC3E}">
        <p14:creationId xmlns:p14="http://schemas.microsoft.com/office/powerpoint/2010/main" val="78494759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9/16/2019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9/16/2019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9/16/2019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9/16/2019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9/16/2019</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9/16/2019</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48A87A34-81AB-432B-8DAE-1953F412C126}" type="datetimeFigureOut">
              <a:rPr lang="en-US" dirty="0"/>
              <a:t>9/16/2019</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9/16/2019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9/16/2019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9/16/2019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9/16/2019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9/16/2019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9/16/2019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9/16/2019</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9/16/2019</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9/16/2019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9/16/2019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48A87A34-81AB-432B-8DAE-1953F412C126}" type="datetimeFigureOut">
              <a:rPr lang="en-US" dirty="0"/>
              <a:pPr/>
              <a:t>9/16/2019</a:t>
            </a:fld>
            <a:endParaRPr lang="en-US" dirty="0"/>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US" dirty="0"/>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6D22F896-40B5-4ADD-8801-0D06FADFA09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21B0CC-B0D7-4E99-834C-AD1FAA9B0F0E}"/>
              </a:ext>
            </a:extLst>
          </p:cNvPr>
          <p:cNvSpPr>
            <a:spLocks noGrp="1"/>
          </p:cNvSpPr>
          <p:nvPr>
            <p:ph type="ctrTitle"/>
          </p:nvPr>
        </p:nvSpPr>
        <p:spPr>
          <a:xfrm>
            <a:off x="1751012" y="1757985"/>
            <a:ext cx="8689976" cy="1671015"/>
          </a:xfrm>
        </p:spPr>
        <p:txBody>
          <a:bodyPr>
            <a:normAutofit/>
          </a:bodyPr>
          <a:lstStyle/>
          <a:p>
            <a:r>
              <a:rPr lang="en-US" b="1" dirty="0"/>
              <a:t>Privacy</a:t>
            </a:r>
            <a:br>
              <a:rPr lang="en-US" b="1" dirty="0"/>
            </a:br>
            <a:r>
              <a:rPr lang="en-US" b="1" dirty="0"/>
              <a:t>Chapter 4</a:t>
            </a:r>
            <a:endParaRPr lang="en-US" dirty="0"/>
          </a:p>
        </p:txBody>
      </p:sp>
      <p:sp>
        <p:nvSpPr>
          <p:cNvPr id="3" name="Subtitle 2">
            <a:extLst>
              <a:ext uri="{FF2B5EF4-FFF2-40B4-BE49-F238E27FC236}">
                <a16:creationId xmlns:a16="http://schemas.microsoft.com/office/drawing/2014/main" id="{9D613934-9060-4B92-8BBB-50FD69D096FB}"/>
              </a:ext>
            </a:extLst>
          </p:cNvPr>
          <p:cNvSpPr>
            <a:spLocks noGrp="1"/>
          </p:cNvSpPr>
          <p:nvPr>
            <p:ph type="subTitle" idx="1"/>
          </p:nvPr>
        </p:nvSpPr>
        <p:spPr>
          <a:xfrm>
            <a:off x="1751012" y="4285251"/>
            <a:ext cx="8689976" cy="1931503"/>
          </a:xfrm>
        </p:spPr>
        <p:txBody>
          <a:bodyPr>
            <a:normAutofit/>
          </a:bodyPr>
          <a:lstStyle/>
          <a:p>
            <a:r>
              <a:rPr lang="en-US" sz="2400" b="1" dirty="0"/>
              <a:t>Agapitus Iboro, Merit Fontinel, and Jason Holden.</a:t>
            </a:r>
          </a:p>
        </p:txBody>
      </p:sp>
    </p:spTree>
    <p:extLst>
      <p:ext uri="{BB962C8B-B14F-4D97-AF65-F5344CB8AC3E}">
        <p14:creationId xmlns:p14="http://schemas.microsoft.com/office/powerpoint/2010/main" val="24057907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541EB9-E204-4BDB-91C1-11A6DFF50319}"/>
              </a:ext>
            </a:extLst>
          </p:cNvPr>
          <p:cNvSpPr>
            <a:spLocks noGrp="1"/>
          </p:cNvSpPr>
          <p:nvPr>
            <p:ph type="title"/>
          </p:nvPr>
        </p:nvSpPr>
        <p:spPr/>
        <p:txBody>
          <a:bodyPr/>
          <a:lstStyle/>
          <a:p>
            <a:r>
              <a:rPr lang="en-US" dirty="0"/>
              <a:t>Privacy</a:t>
            </a:r>
          </a:p>
        </p:txBody>
      </p:sp>
      <p:sp>
        <p:nvSpPr>
          <p:cNvPr id="3" name="Content Placeholder 2">
            <a:extLst>
              <a:ext uri="{FF2B5EF4-FFF2-40B4-BE49-F238E27FC236}">
                <a16:creationId xmlns:a16="http://schemas.microsoft.com/office/drawing/2014/main" id="{CAE186B6-80FD-4892-AF49-E9FA5B4DC1EA}"/>
              </a:ext>
            </a:extLst>
          </p:cNvPr>
          <p:cNvSpPr>
            <a:spLocks noGrp="1"/>
          </p:cNvSpPr>
          <p:nvPr>
            <p:ph sz="quarter" idx="13"/>
          </p:nvPr>
        </p:nvSpPr>
        <p:spPr/>
        <p:txBody>
          <a:bodyPr>
            <a:noAutofit/>
          </a:bodyPr>
          <a:lstStyle/>
          <a:p>
            <a:r>
              <a:rPr lang="en-US" sz="2400" dirty="0"/>
              <a:t>What is privacy </a:t>
            </a:r>
          </a:p>
          <a:p>
            <a:r>
              <a:rPr lang="en-US" sz="2400" dirty="0"/>
              <a:t>What are the first ten amendments called</a:t>
            </a:r>
          </a:p>
          <a:p>
            <a:r>
              <a:rPr lang="en-US" sz="2400" dirty="0"/>
              <a:t>What's amendment was put in place to give Americans a reasonable expectation of privacy</a:t>
            </a:r>
          </a:p>
          <a:p>
            <a:r>
              <a:rPr lang="en-US" sz="2400" dirty="0"/>
              <a:t>right of privacy</a:t>
            </a:r>
          </a:p>
          <a:p>
            <a:r>
              <a:rPr lang="en-US" sz="2400" dirty="0"/>
              <a:t>information privacy. </a:t>
            </a:r>
          </a:p>
        </p:txBody>
      </p:sp>
    </p:spTree>
    <p:extLst>
      <p:ext uri="{BB962C8B-B14F-4D97-AF65-F5344CB8AC3E}">
        <p14:creationId xmlns:p14="http://schemas.microsoft.com/office/powerpoint/2010/main" val="6516431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9F201-627C-450C-8796-5881D5F410F2}"/>
              </a:ext>
            </a:extLst>
          </p:cNvPr>
          <p:cNvSpPr>
            <a:spLocks noGrp="1"/>
          </p:cNvSpPr>
          <p:nvPr>
            <p:ph type="title"/>
          </p:nvPr>
        </p:nvSpPr>
        <p:spPr/>
        <p:txBody>
          <a:bodyPr/>
          <a:lstStyle/>
          <a:p>
            <a:r>
              <a:rPr lang="en-US" dirty="0"/>
              <a:t>Basis for the collection of data</a:t>
            </a:r>
          </a:p>
        </p:txBody>
      </p:sp>
      <p:pic>
        <p:nvPicPr>
          <p:cNvPr id="4" name="Content Placeholder 4" descr="Figure 4-1: This figure illustrates the types of data that organizations gather about an individual in order to answer the question, &quot;Who are you?&quot; Types of data gathered may related to a person’s: associates and affiliations, driving record, education records, financial data, location data, medical history, police record, work history, sexual orientation, and web-browsing behavior. ">
            <a:extLst>
              <a:ext uri="{FF2B5EF4-FFF2-40B4-BE49-F238E27FC236}">
                <a16:creationId xmlns:a16="http://schemas.microsoft.com/office/drawing/2014/main" id="{F5EE3E78-C364-4FF7-BD57-13679DD06BC0}"/>
              </a:ext>
            </a:extLst>
          </p:cNvPr>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2459182" y="2214694"/>
            <a:ext cx="7273636" cy="4374226"/>
          </a:xfrm>
        </p:spPr>
      </p:pic>
    </p:spTree>
    <p:extLst>
      <p:ext uri="{BB962C8B-B14F-4D97-AF65-F5344CB8AC3E}">
        <p14:creationId xmlns:p14="http://schemas.microsoft.com/office/powerpoint/2010/main" val="37065388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EB780-8114-4243-AF52-EE7A4B64DC87}"/>
              </a:ext>
            </a:extLst>
          </p:cNvPr>
          <p:cNvSpPr>
            <a:spLocks noGrp="1"/>
          </p:cNvSpPr>
          <p:nvPr>
            <p:ph type="title"/>
          </p:nvPr>
        </p:nvSpPr>
        <p:spPr/>
        <p:txBody>
          <a:bodyPr/>
          <a:lstStyle/>
          <a:p>
            <a:r>
              <a:rPr lang="en-US" dirty="0"/>
              <a:t>privacy laws, applications and court rulings</a:t>
            </a:r>
          </a:p>
        </p:txBody>
      </p:sp>
      <p:sp>
        <p:nvSpPr>
          <p:cNvPr id="3" name="Content Placeholder 2">
            <a:extLst>
              <a:ext uri="{FF2B5EF4-FFF2-40B4-BE49-F238E27FC236}">
                <a16:creationId xmlns:a16="http://schemas.microsoft.com/office/drawing/2014/main" id="{3965438B-E6C5-4BDF-86C7-0D94D0700D90}"/>
              </a:ext>
            </a:extLst>
          </p:cNvPr>
          <p:cNvSpPr>
            <a:spLocks noGrp="1"/>
          </p:cNvSpPr>
          <p:nvPr>
            <p:ph sz="quarter" idx="13"/>
          </p:nvPr>
        </p:nvSpPr>
        <p:spPr/>
        <p:txBody>
          <a:bodyPr>
            <a:normAutofit/>
          </a:bodyPr>
          <a:lstStyle/>
          <a:p>
            <a:r>
              <a:rPr lang="en-US" sz="2400" dirty="0"/>
              <a:t>financial data</a:t>
            </a:r>
          </a:p>
          <a:p>
            <a:r>
              <a:rPr lang="en-US" sz="2400" dirty="0"/>
              <a:t>health information</a:t>
            </a:r>
          </a:p>
          <a:p>
            <a:r>
              <a:rPr lang="en-US" sz="2400" dirty="0"/>
              <a:t>children’s personal data</a:t>
            </a:r>
          </a:p>
          <a:p>
            <a:r>
              <a:rPr lang="en-US" sz="2400" dirty="0"/>
              <a:t>electronic surveillance</a:t>
            </a:r>
          </a:p>
          <a:p>
            <a:r>
              <a:rPr lang="en-US" sz="2400" dirty="0"/>
              <a:t>fair information practices</a:t>
            </a:r>
          </a:p>
          <a:p>
            <a:r>
              <a:rPr lang="en-US" sz="2400" dirty="0"/>
              <a:t>access to government records</a:t>
            </a:r>
          </a:p>
        </p:txBody>
      </p:sp>
    </p:spTree>
    <p:extLst>
      <p:ext uri="{BB962C8B-B14F-4D97-AF65-F5344CB8AC3E}">
        <p14:creationId xmlns:p14="http://schemas.microsoft.com/office/powerpoint/2010/main" val="25736300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963E24-56A0-48A1-AD8B-320B731E910B}"/>
              </a:ext>
            </a:extLst>
          </p:cNvPr>
          <p:cNvSpPr>
            <a:spLocks noGrp="1"/>
          </p:cNvSpPr>
          <p:nvPr>
            <p:ph type="title"/>
          </p:nvPr>
        </p:nvSpPr>
        <p:spPr/>
        <p:txBody>
          <a:bodyPr/>
          <a:lstStyle/>
          <a:p>
            <a:r>
              <a:rPr lang="en-US" dirty="0"/>
              <a:t>privacy laws, applications and court rulings: Financial data</a:t>
            </a:r>
          </a:p>
        </p:txBody>
      </p:sp>
      <p:sp>
        <p:nvSpPr>
          <p:cNvPr id="3" name="Content Placeholder 2">
            <a:extLst>
              <a:ext uri="{FF2B5EF4-FFF2-40B4-BE49-F238E27FC236}">
                <a16:creationId xmlns:a16="http://schemas.microsoft.com/office/drawing/2014/main" id="{02F8B21E-B5AC-4028-814C-7960FF6C524D}"/>
              </a:ext>
            </a:extLst>
          </p:cNvPr>
          <p:cNvSpPr>
            <a:spLocks noGrp="1"/>
          </p:cNvSpPr>
          <p:nvPr>
            <p:ph sz="quarter" idx="13"/>
          </p:nvPr>
        </p:nvSpPr>
        <p:spPr/>
        <p:txBody>
          <a:bodyPr>
            <a:normAutofit/>
          </a:bodyPr>
          <a:lstStyle/>
          <a:p>
            <a:pPr marL="0" indent="0">
              <a:buNone/>
            </a:pPr>
            <a:r>
              <a:rPr lang="en-US" sz="2400" dirty="0"/>
              <a:t>Who can name a few acts protecting financial data ?</a:t>
            </a:r>
          </a:p>
          <a:p>
            <a:r>
              <a:rPr lang="en-US" sz="2400" dirty="0"/>
              <a:t>Fair credit reporting act(1970)</a:t>
            </a:r>
          </a:p>
          <a:p>
            <a:r>
              <a:rPr lang="en-US" sz="2400" dirty="0"/>
              <a:t>Right to financial privacy act (1978)</a:t>
            </a:r>
          </a:p>
          <a:p>
            <a:r>
              <a:rPr lang="en-US" sz="2400" dirty="0"/>
              <a:t>Gramm-leach-Bliley act (1999)</a:t>
            </a:r>
          </a:p>
          <a:p>
            <a:r>
              <a:rPr lang="en-US" sz="2400" dirty="0"/>
              <a:t>Fair and accurate credit transactions act (2003)</a:t>
            </a:r>
          </a:p>
        </p:txBody>
      </p:sp>
    </p:spTree>
    <p:extLst>
      <p:ext uri="{BB962C8B-B14F-4D97-AF65-F5344CB8AC3E}">
        <p14:creationId xmlns:p14="http://schemas.microsoft.com/office/powerpoint/2010/main" val="1041819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 calcmode="lin" valueType="num">
                                      <p:cBhvr additive="base">
                                        <p:cTn id="1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D6659-F340-4BD1-801D-2C40D9319F09}"/>
              </a:ext>
            </a:extLst>
          </p:cNvPr>
          <p:cNvSpPr>
            <a:spLocks noGrp="1"/>
          </p:cNvSpPr>
          <p:nvPr>
            <p:ph type="title"/>
          </p:nvPr>
        </p:nvSpPr>
        <p:spPr/>
        <p:txBody>
          <a:bodyPr>
            <a:normAutofit/>
          </a:bodyPr>
          <a:lstStyle/>
          <a:p>
            <a:r>
              <a:rPr lang="en-US" dirty="0"/>
              <a:t>Fair credit reporting act(1970)</a:t>
            </a:r>
          </a:p>
        </p:txBody>
      </p:sp>
      <p:sp>
        <p:nvSpPr>
          <p:cNvPr id="3" name="Content Placeholder 2">
            <a:extLst>
              <a:ext uri="{FF2B5EF4-FFF2-40B4-BE49-F238E27FC236}">
                <a16:creationId xmlns:a16="http://schemas.microsoft.com/office/drawing/2014/main" id="{7F7624DE-1FD7-4390-955E-FAC6EF169559}"/>
              </a:ext>
            </a:extLst>
          </p:cNvPr>
          <p:cNvSpPr>
            <a:spLocks noGrp="1"/>
          </p:cNvSpPr>
          <p:nvPr>
            <p:ph sz="quarter" idx="13"/>
          </p:nvPr>
        </p:nvSpPr>
        <p:spPr>
          <a:xfrm>
            <a:off x="913774" y="2367092"/>
            <a:ext cx="10363826" cy="3424107"/>
          </a:xfrm>
        </p:spPr>
        <p:txBody>
          <a:bodyPr>
            <a:normAutofit/>
          </a:bodyPr>
          <a:lstStyle/>
          <a:p>
            <a:r>
              <a:rPr lang="en-US" sz="2400" dirty="0"/>
              <a:t>Who may access your information</a:t>
            </a:r>
          </a:p>
          <a:p>
            <a:r>
              <a:rPr lang="en-US" sz="2400" dirty="0"/>
              <a:t>How you can find out what’s in your file</a:t>
            </a:r>
          </a:p>
          <a:p>
            <a:r>
              <a:rPr lang="en-US" sz="2400" dirty="0"/>
              <a:t>How long data are retained</a:t>
            </a:r>
          </a:p>
          <a:p>
            <a:r>
              <a:rPr lang="en-US" sz="2400" dirty="0"/>
              <a:t>Prohibits the release of your data to employer or potential employer without your consent</a:t>
            </a:r>
          </a:p>
        </p:txBody>
      </p:sp>
    </p:spTree>
    <p:extLst>
      <p:ext uri="{BB962C8B-B14F-4D97-AF65-F5344CB8AC3E}">
        <p14:creationId xmlns:p14="http://schemas.microsoft.com/office/powerpoint/2010/main" val="42158924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AA51A-E18C-4FD0-A0E9-CA1A4243A97D}"/>
              </a:ext>
            </a:extLst>
          </p:cNvPr>
          <p:cNvSpPr>
            <a:spLocks noGrp="1"/>
          </p:cNvSpPr>
          <p:nvPr>
            <p:ph type="title"/>
          </p:nvPr>
        </p:nvSpPr>
        <p:spPr/>
        <p:txBody>
          <a:bodyPr>
            <a:normAutofit/>
          </a:bodyPr>
          <a:lstStyle/>
          <a:p>
            <a:r>
              <a:rPr lang="en-US" dirty="0"/>
              <a:t>Right to financial privacy act (1978)</a:t>
            </a:r>
          </a:p>
        </p:txBody>
      </p:sp>
      <p:sp>
        <p:nvSpPr>
          <p:cNvPr id="3" name="Content Placeholder 2">
            <a:extLst>
              <a:ext uri="{FF2B5EF4-FFF2-40B4-BE49-F238E27FC236}">
                <a16:creationId xmlns:a16="http://schemas.microsoft.com/office/drawing/2014/main" id="{DB134B8B-F7B1-44D0-A38C-DC65FB1543D5}"/>
              </a:ext>
            </a:extLst>
          </p:cNvPr>
          <p:cNvSpPr>
            <a:spLocks noGrp="1"/>
          </p:cNvSpPr>
          <p:nvPr>
            <p:ph sz="quarter" idx="13"/>
          </p:nvPr>
        </p:nvSpPr>
        <p:spPr/>
        <p:txBody>
          <a:bodyPr>
            <a:normAutofit lnSpcReduction="10000"/>
          </a:bodyPr>
          <a:lstStyle/>
          <a:p>
            <a:r>
              <a:rPr lang="en-US" sz="2400" dirty="0"/>
              <a:t>The act only cover disclosures to federal government (must follow procedure)</a:t>
            </a:r>
          </a:p>
          <a:p>
            <a:r>
              <a:rPr lang="en-US" sz="2400" dirty="0"/>
              <a:t>It Does not cover disclosures to private businesses or state and local governments (doesn't have to follow procedure)</a:t>
            </a:r>
          </a:p>
          <a:p>
            <a:endParaRPr lang="en-US" sz="2400" dirty="0"/>
          </a:p>
          <a:p>
            <a:pPr marL="0" indent="0">
              <a:buNone/>
            </a:pPr>
            <a:r>
              <a:rPr lang="en-US" sz="2400" b="1" dirty="0"/>
              <a:t>Question</a:t>
            </a:r>
          </a:p>
          <a:p>
            <a:r>
              <a:rPr lang="en-US" sz="2400" dirty="0"/>
              <a:t>Who sees why the second bullet point could be a problem</a:t>
            </a:r>
          </a:p>
          <a:p>
            <a:endParaRPr lang="en-US" sz="2400" dirty="0"/>
          </a:p>
        </p:txBody>
      </p:sp>
    </p:spTree>
    <p:extLst>
      <p:ext uri="{BB962C8B-B14F-4D97-AF65-F5344CB8AC3E}">
        <p14:creationId xmlns:p14="http://schemas.microsoft.com/office/powerpoint/2010/main" val="21362664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3F82B-9954-4778-A476-725D8DD0981A}"/>
              </a:ext>
            </a:extLst>
          </p:cNvPr>
          <p:cNvSpPr>
            <a:spLocks noGrp="1"/>
          </p:cNvSpPr>
          <p:nvPr>
            <p:ph type="title"/>
          </p:nvPr>
        </p:nvSpPr>
        <p:spPr/>
        <p:txBody>
          <a:bodyPr>
            <a:normAutofit/>
          </a:bodyPr>
          <a:lstStyle/>
          <a:p>
            <a:r>
              <a:rPr lang="en-US" dirty="0"/>
              <a:t>Gramm-leach-Bliley act (1999)</a:t>
            </a:r>
          </a:p>
        </p:txBody>
      </p:sp>
      <p:sp>
        <p:nvSpPr>
          <p:cNvPr id="3" name="Content Placeholder 2">
            <a:extLst>
              <a:ext uri="{FF2B5EF4-FFF2-40B4-BE49-F238E27FC236}">
                <a16:creationId xmlns:a16="http://schemas.microsoft.com/office/drawing/2014/main" id="{65823806-9F89-4605-960E-07622143A9EB}"/>
              </a:ext>
            </a:extLst>
          </p:cNvPr>
          <p:cNvSpPr>
            <a:spLocks noGrp="1"/>
          </p:cNvSpPr>
          <p:nvPr>
            <p:ph sz="quarter" idx="13"/>
          </p:nvPr>
        </p:nvSpPr>
        <p:spPr/>
        <p:txBody>
          <a:bodyPr>
            <a:normAutofit/>
          </a:bodyPr>
          <a:lstStyle/>
          <a:p>
            <a:r>
              <a:rPr lang="en-US" sz="2400" dirty="0"/>
              <a:t>Financial privacy rule</a:t>
            </a:r>
          </a:p>
          <a:p>
            <a:pPr marL="0" indent="0">
              <a:buNone/>
            </a:pPr>
            <a:r>
              <a:rPr lang="en-US" sz="2400" dirty="0"/>
              <a:t>	opt out</a:t>
            </a:r>
          </a:p>
          <a:p>
            <a:pPr marL="0" indent="0">
              <a:buNone/>
            </a:pPr>
            <a:r>
              <a:rPr lang="en-US" sz="2400" dirty="0"/>
              <a:t>	opt in</a:t>
            </a:r>
          </a:p>
          <a:p>
            <a:r>
              <a:rPr lang="en-US" sz="2400" dirty="0"/>
              <a:t>Safeguard rule</a:t>
            </a:r>
          </a:p>
          <a:p>
            <a:r>
              <a:rPr lang="en-US" sz="2400" dirty="0"/>
              <a:t>Pretexting rule</a:t>
            </a:r>
          </a:p>
        </p:txBody>
      </p:sp>
    </p:spTree>
    <p:extLst>
      <p:ext uri="{BB962C8B-B14F-4D97-AF65-F5344CB8AC3E}">
        <p14:creationId xmlns:p14="http://schemas.microsoft.com/office/powerpoint/2010/main" val="10421346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34450-BA11-4088-8BFC-DBEA0BBE4458}"/>
              </a:ext>
            </a:extLst>
          </p:cNvPr>
          <p:cNvSpPr>
            <a:spLocks noGrp="1"/>
          </p:cNvSpPr>
          <p:nvPr>
            <p:ph type="title"/>
          </p:nvPr>
        </p:nvSpPr>
        <p:spPr/>
        <p:txBody>
          <a:bodyPr>
            <a:normAutofit/>
          </a:bodyPr>
          <a:lstStyle/>
          <a:p>
            <a:r>
              <a:rPr lang="en-US" dirty="0"/>
              <a:t>Fair and accurate credit transactions act (2003)</a:t>
            </a:r>
          </a:p>
        </p:txBody>
      </p:sp>
      <p:sp>
        <p:nvSpPr>
          <p:cNvPr id="3" name="Content Placeholder 2">
            <a:extLst>
              <a:ext uri="{FF2B5EF4-FFF2-40B4-BE49-F238E27FC236}">
                <a16:creationId xmlns:a16="http://schemas.microsoft.com/office/drawing/2014/main" id="{332BEADD-F5A4-4693-8C70-55BDAC3ACE8C}"/>
              </a:ext>
            </a:extLst>
          </p:cNvPr>
          <p:cNvSpPr>
            <a:spLocks noGrp="1"/>
          </p:cNvSpPr>
          <p:nvPr>
            <p:ph sz="quarter" idx="13"/>
          </p:nvPr>
        </p:nvSpPr>
        <p:spPr/>
        <p:txBody>
          <a:bodyPr>
            <a:normAutofit/>
          </a:bodyPr>
          <a:lstStyle/>
          <a:p>
            <a:r>
              <a:rPr lang="en-US" sz="2400" dirty="0"/>
              <a:t>Example</a:t>
            </a:r>
          </a:p>
          <a:p>
            <a:pPr marL="0" indent="0">
              <a:buNone/>
            </a:pPr>
            <a:r>
              <a:rPr lang="en-US" sz="2400" dirty="0"/>
              <a:t>Someone who suspects their card has been used to purchase unauthorized items.</a:t>
            </a:r>
          </a:p>
        </p:txBody>
      </p:sp>
    </p:spTree>
    <p:extLst>
      <p:ext uri="{BB962C8B-B14F-4D97-AF65-F5344CB8AC3E}">
        <p14:creationId xmlns:p14="http://schemas.microsoft.com/office/powerpoint/2010/main" val="36666169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963E24-56A0-48A1-AD8B-320B731E910B}"/>
              </a:ext>
            </a:extLst>
          </p:cNvPr>
          <p:cNvSpPr>
            <a:spLocks noGrp="1"/>
          </p:cNvSpPr>
          <p:nvPr>
            <p:ph type="title"/>
          </p:nvPr>
        </p:nvSpPr>
        <p:spPr/>
        <p:txBody>
          <a:bodyPr/>
          <a:lstStyle/>
          <a:p>
            <a:r>
              <a:rPr lang="en-US" dirty="0"/>
              <a:t>privacy laws, applications and court rulings: Health information</a:t>
            </a:r>
          </a:p>
        </p:txBody>
      </p:sp>
      <p:sp>
        <p:nvSpPr>
          <p:cNvPr id="3" name="Content Placeholder 2">
            <a:extLst>
              <a:ext uri="{FF2B5EF4-FFF2-40B4-BE49-F238E27FC236}">
                <a16:creationId xmlns:a16="http://schemas.microsoft.com/office/drawing/2014/main" id="{02F8B21E-B5AC-4028-814C-7960FF6C524D}"/>
              </a:ext>
            </a:extLst>
          </p:cNvPr>
          <p:cNvSpPr>
            <a:spLocks noGrp="1"/>
          </p:cNvSpPr>
          <p:nvPr>
            <p:ph sz="quarter" idx="13"/>
          </p:nvPr>
        </p:nvSpPr>
        <p:spPr/>
        <p:txBody>
          <a:bodyPr>
            <a:normAutofit/>
          </a:bodyPr>
          <a:lstStyle/>
          <a:p>
            <a:pPr marL="0" indent="0">
              <a:buNone/>
            </a:pPr>
            <a:r>
              <a:rPr lang="en-US" sz="2400" dirty="0"/>
              <a:t>Who can name a few acts protecting health information ?</a:t>
            </a:r>
          </a:p>
          <a:p>
            <a:pPr marL="0" indent="0">
              <a:buNone/>
            </a:pPr>
            <a:endParaRPr lang="en-US" sz="2400" dirty="0"/>
          </a:p>
          <a:p>
            <a:r>
              <a:rPr lang="en-US" sz="2400" dirty="0"/>
              <a:t>Health insurance portability and accountability act (19996)</a:t>
            </a:r>
          </a:p>
          <a:p>
            <a:r>
              <a:rPr lang="en-US" sz="2400" dirty="0"/>
              <a:t>The American recovery and reinvestment act (2009)</a:t>
            </a:r>
          </a:p>
          <a:p>
            <a:endParaRPr lang="en-US" sz="2400" dirty="0"/>
          </a:p>
        </p:txBody>
      </p:sp>
    </p:spTree>
    <p:extLst>
      <p:ext uri="{BB962C8B-B14F-4D97-AF65-F5344CB8AC3E}">
        <p14:creationId xmlns:p14="http://schemas.microsoft.com/office/powerpoint/2010/main" val="150988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anim calcmode="lin" valueType="num">
                                      <p:cBhvr additive="base">
                                        <p:cTn id="1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D089D-6DBE-4504-8182-F4E473B2E082}"/>
              </a:ext>
            </a:extLst>
          </p:cNvPr>
          <p:cNvSpPr>
            <a:spLocks noGrp="1"/>
          </p:cNvSpPr>
          <p:nvPr>
            <p:ph type="title"/>
          </p:nvPr>
        </p:nvSpPr>
        <p:spPr/>
        <p:txBody>
          <a:bodyPr>
            <a:normAutofit/>
          </a:bodyPr>
          <a:lstStyle/>
          <a:p>
            <a:r>
              <a:rPr lang="en-US" dirty="0"/>
              <a:t>Health insurance portability and accountability act (19996)</a:t>
            </a:r>
          </a:p>
        </p:txBody>
      </p:sp>
      <p:sp>
        <p:nvSpPr>
          <p:cNvPr id="3" name="Content Placeholder 2">
            <a:extLst>
              <a:ext uri="{FF2B5EF4-FFF2-40B4-BE49-F238E27FC236}">
                <a16:creationId xmlns:a16="http://schemas.microsoft.com/office/drawing/2014/main" id="{6F9357F9-A55B-4849-8DD0-ADC202D36A7A}"/>
              </a:ext>
            </a:extLst>
          </p:cNvPr>
          <p:cNvSpPr>
            <a:spLocks noGrp="1"/>
          </p:cNvSpPr>
          <p:nvPr>
            <p:ph sz="quarter" idx="13"/>
          </p:nvPr>
        </p:nvSpPr>
        <p:spPr/>
        <p:txBody>
          <a:bodyPr>
            <a:normAutofit/>
          </a:bodyPr>
          <a:lstStyle/>
          <a:p>
            <a:r>
              <a:rPr lang="en-US" sz="2400" dirty="0"/>
              <a:t>Improve the portability and continuity of health </a:t>
            </a:r>
            <a:br>
              <a:rPr lang="en-US" sz="2400" dirty="0"/>
            </a:br>
            <a:r>
              <a:rPr lang="en-US" sz="2400" dirty="0"/>
              <a:t>insurance coverage</a:t>
            </a:r>
          </a:p>
          <a:p>
            <a:r>
              <a:rPr lang="en-US" sz="2400" dirty="0"/>
              <a:t>Reduce fraud, waste, and abuse in health insurance and healthcare delivery</a:t>
            </a:r>
          </a:p>
          <a:p>
            <a:r>
              <a:rPr lang="en-US" sz="2400" dirty="0"/>
              <a:t>Simplify the administration of health insurance</a:t>
            </a:r>
          </a:p>
        </p:txBody>
      </p:sp>
    </p:spTree>
    <p:extLst>
      <p:ext uri="{BB962C8B-B14F-4D97-AF65-F5344CB8AC3E}">
        <p14:creationId xmlns:p14="http://schemas.microsoft.com/office/powerpoint/2010/main" val="24780181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3F830C-FD6E-4FA8-86C9-6297AC95E4C6}"/>
              </a:ext>
            </a:extLst>
          </p:cNvPr>
          <p:cNvSpPr>
            <a:spLocks noGrp="1"/>
          </p:cNvSpPr>
          <p:nvPr>
            <p:ph type="title"/>
          </p:nvPr>
        </p:nvSpPr>
        <p:spPr/>
        <p:txBody>
          <a:bodyPr>
            <a:normAutofit/>
          </a:bodyPr>
          <a:lstStyle/>
          <a:p>
            <a:r>
              <a:rPr lang="en-US" dirty="0"/>
              <a:t>The American recovery and reinvestment act (2009)</a:t>
            </a:r>
          </a:p>
        </p:txBody>
      </p:sp>
      <p:sp>
        <p:nvSpPr>
          <p:cNvPr id="3" name="Content Placeholder 2">
            <a:extLst>
              <a:ext uri="{FF2B5EF4-FFF2-40B4-BE49-F238E27FC236}">
                <a16:creationId xmlns:a16="http://schemas.microsoft.com/office/drawing/2014/main" id="{9B19CA89-FC1F-4F89-BA91-C41C07D44643}"/>
              </a:ext>
            </a:extLst>
          </p:cNvPr>
          <p:cNvSpPr>
            <a:spLocks noGrp="1"/>
          </p:cNvSpPr>
          <p:nvPr>
            <p:ph sz="quarter" idx="13"/>
          </p:nvPr>
        </p:nvSpPr>
        <p:spPr/>
        <p:txBody>
          <a:bodyPr>
            <a:normAutofit/>
          </a:bodyPr>
          <a:lstStyle/>
          <a:p>
            <a:r>
              <a:rPr lang="en-US" sz="2400" dirty="0"/>
              <a:t>Bans the sale of health information</a:t>
            </a:r>
          </a:p>
          <a:p>
            <a:r>
              <a:rPr lang="en-US" sz="2400" dirty="0"/>
              <a:t>Promotes the use of audit trails and encryption</a:t>
            </a:r>
          </a:p>
          <a:p>
            <a:r>
              <a:rPr lang="en-US" sz="2400" dirty="0"/>
              <a:t>Provides rights of access for patients</a:t>
            </a:r>
          </a:p>
        </p:txBody>
      </p:sp>
    </p:spTree>
    <p:extLst>
      <p:ext uri="{BB962C8B-B14F-4D97-AF65-F5344CB8AC3E}">
        <p14:creationId xmlns:p14="http://schemas.microsoft.com/office/powerpoint/2010/main" val="12851390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963E24-56A0-48A1-AD8B-320B731E910B}"/>
              </a:ext>
            </a:extLst>
          </p:cNvPr>
          <p:cNvSpPr>
            <a:spLocks noGrp="1"/>
          </p:cNvSpPr>
          <p:nvPr>
            <p:ph type="title"/>
          </p:nvPr>
        </p:nvSpPr>
        <p:spPr/>
        <p:txBody>
          <a:bodyPr/>
          <a:lstStyle/>
          <a:p>
            <a:r>
              <a:rPr lang="en-US" dirty="0"/>
              <a:t>privacy laws, applications and court rulings: children’s personal data</a:t>
            </a:r>
          </a:p>
        </p:txBody>
      </p:sp>
      <p:sp>
        <p:nvSpPr>
          <p:cNvPr id="3" name="Content Placeholder 2">
            <a:extLst>
              <a:ext uri="{FF2B5EF4-FFF2-40B4-BE49-F238E27FC236}">
                <a16:creationId xmlns:a16="http://schemas.microsoft.com/office/drawing/2014/main" id="{02F8B21E-B5AC-4028-814C-7960FF6C524D}"/>
              </a:ext>
            </a:extLst>
          </p:cNvPr>
          <p:cNvSpPr>
            <a:spLocks noGrp="1"/>
          </p:cNvSpPr>
          <p:nvPr>
            <p:ph sz="quarter" idx="13"/>
          </p:nvPr>
        </p:nvSpPr>
        <p:spPr/>
        <p:txBody>
          <a:bodyPr>
            <a:normAutofit/>
          </a:bodyPr>
          <a:lstStyle/>
          <a:p>
            <a:pPr marL="0" indent="0">
              <a:buNone/>
            </a:pPr>
            <a:r>
              <a:rPr lang="en-US" sz="2400" dirty="0"/>
              <a:t>Who can name a few acts protecting children's personal data ?</a:t>
            </a:r>
          </a:p>
          <a:p>
            <a:pPr marL="0" indent="0">
              <a:buNone/>
            </a:pPr>
            <a:endParaRPr lang="en-US" sz="2400" dirty="0"/>
          </a:p>
          <a:p>
            <a:r>
              <a:rPr lang="en-US" sz="2400" dirty="0"/>
              <a:t>Family educational rights and privacy act (1974)</a:t>
            </a:r>
          </a:p>
          <a:p>
            <a:r>
              <a:rPr lang="en-US" sz="2400" dirty="0"/>
              <a:t>Children’s online privacy protection act (1998)</a:t>
            </a:r>
          </a:p>
        </p:txBody>
      </p:sp>
    </p:spTree>
    <p:extLst>
      <p:ext uri="{BB962C8B-B14F-4D97-AF65-F5344CB8AC3E}">
        <p14:creationId xmlns:p14="http://schemas.microsoft.com/office/powerpoint/2010/main" val="1851428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anim calcmode="lin" valueType="num">
                                      <p:cBhvr additive="base">
                                        <p:cTn id="1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F931D2-A6B9-4216-AD36-B517C15B00E8}"/>
              </a:ext>
            </a:extLst>
          </p:cNvPr>
          <p:cNvSpPr>
            <a:spLocks noGrp="1"/>
          </p:cNvSpPr>
          <p:nvPr>
            <p:ph type="title"/>
          </p:nvPr>
        </p:nvSpPr>
        <p:spPr/>
        <p:txBody>
          <a:bodyPr>
            <a:normAutofit/>
          </a:bodyPr>
          <a:lstStyle/>
          <a:p>
            <a:r>
              <a:rPr lang="en-US" dirty="0"/>
              <a:t>Family educational rights and privacy act (1974)</a:t>
            </a:r>
          </a:p>
        </p:txBody>
      </p:sp>
      <p:sp>
        <p:nvSpPr>
          <p:cNvPr id="3" name="Content Placeholder 2">
            <a:extLst>
              <a:ext uri="{FF2B5EF4-FFF2-40B4-BE49-F238E27FC236}">
                <a16:creationId xmlns:a16="http://schemas.microsoft.com/office/drawing/2014/main" id="{09D47845-0727-496C-90BA-1148637D0676}"/>
              </a:ext>
            </a:extLst>
          </p:cNvPr>
          <p:cNvSpPr>
            <a:spLocks noGrp="1"/>
          </p:cNvSpPr>
          <p:nvPr>
            <p:ph sz="quarter" idx="13"/>
          </p:nvPr>
        </p:nvSpPr>
        <p:spPr/>
        <p:txBody>
          <a:bodyPr>
            <a:normAutofit/>
          </a:bodyPr>
          <a:lstStyle/>
          <a:p>
            <a:r>
              <a:rPr lang="en-US" sz="2400" dirty="0"/>
              <a:t>Access educational records maintained by a school</a:t>
            </a:r>
          </a:p>
          <a:p>
            <a:r>
              <a:rPr lang="en-US" sz="2400" dirty="0"/>
              <a:t>Demand that educational records be disclosed only with student consent</a:t>
            </a:r>
          </a:p>
          <a:p>
            <a:r>
              <a:rPr lang="en-US" sz="2400" dirty="0"/>
              <a:t>Amend educational records</a:t>
            </a:r>
          </a:p>
          <a:p>
            <a:r>
              <a:rPr lang="en-US" sz="2400" dirty="0"/>
              <a:t>File complaints against a school for disclosing student records</a:t>
            </a:r>
          </a:p>
        </p:txBody>
      </p:sp>
    </p:spTree>
    <p:extLst>
      <p:ext uri="{BB962C8B-B14F-4D97-AF65-F5344CB8AC3E}">
        <p14:creationId xmlns:p14="http://schemas.microsoft.com/office/powerpoint/2010/main" val="17035672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12386B-7E9A-4B9F-ABA9-D25AD56DDBBC}"/>
              </a:ext>
            </a:extLst>
          </p:cNvPr>
          <p:cNvSpPr>
            <a:spLocks noGrp="1"/>
          </p:cNvSpPr>
          <p:nvPr>
            <p:ph type="title"/>
          </p:nvPr>
        </p:nvSpPr>
        <p:spPr/>
        <p:txBody>
          <a:bodyPr>
            <a:normAutofit/>
          </a:bodyPr>
          <a:lstStyle/>
          <a:p>
            <a:r>
              <a:rPr lang="en-US" dirty="0"/>
              <a:t>Children’s online privacy protection act (1998)</a:t>
            </a:r>
          </a:p>
        </p:txBody>
      </p:sp>
      <p:sp>
        <p:nvSpPr>
          <p:cNvPr id="3" name="Content Placeholder 2">
            <a:extLst>
              <a:ext uri="{FF2B5EF4-FFF2-40B4-BE49-F238E27FC236}">
                <a16:creationId xmlns:a16="http://schemas.microsoft.com/office/drawing/2014/main" id="{26BD8C0C-19A3-43BB-A688-DF5B9FECBE09}"/>
              </a:ext>
            </a:extLst>
          </p:cNvPr>
          <p:cNvSpPr>
            <a:spLocks noGrp="1"/>
          </p:cNvSpPr>
          <p:nvPr>
            <p:ph sz="quarter" idx="13"/>
          </p:nvPr>
        </p:nvSpPr>
        <p:spPr/>
        <p:txBody>
          <a:bodyPr>
            <a:normAutofit/>
          </a:bodyPr>
          <a:lstStyle/>
          <a:p>
            <a:r>
              <a:rPr lang="en-US" sz="2400" dirty="0"/>
              <a:t>This act Gives parents control over the collection, use, and disclosure of their children’s personal information over the Internet </a:t>
            </a:r>
          </a:p>
        </p:txBody>
      </p:sp>
    </p:spTree>
    <p:extLst>
      <p:ext uri="{BB962C8B-B14F-4D97-AF65-F5344CB8AC3E}">
        <p14:creationId xmlns:p14="http://schemas.microsoft.com/office/powerpoint/2010/main" val="29808149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963E24-56A0-48A1-AD8B-320B731E910B}"/>
              </a:ext>
            </a:extLst>
          </p:cNvPr>
          <p:cNvSpPr>
            <a:spLocks noGrp="1"/>
          </p:cNvSpPr>
          <p:nvPr>
            <p:ph type="title"/>
          </p:nvPr>
        </p:nvSpPr>
        <p:spPr/>
        <p:txBody>
          <a:bodyPr/>
          <a:lstStyle/>
          <a:p>
            <a:r>
              <a:rPr lang="en-US" dirty="0"/>
              <a:t>privacy laws, applications and court rulings: electronic surveillance</a:t>
            </a:r>
          </a:p>
        </p:txBody>
      </p:sp>
      <p:sp>
        <p:nvSpPr>
          <p:cNvPr id="3" name="Content Placeholder 2">
            <a:extLst>
              <a:ext uri="{FF2B5EF4-FFF2-40B4-BE49-F238E27FC236}">
                <a16:creationId xmlns:a16="http://schemas.microsoft.com/office/drawing/2014/main" id="{02F8B21E-B5AC-4028-814C-7960FF6C524D}"/>
              </a:ext>
            </a:extLst>
          </p:cNvPr>
          <p:cNvSpPr>
            <a:spLocks noGrp="1"/>
          </p:cNvSpPr>
          <p:nvPr>
            <p:ph sz="quarter" idx="13"/>
          </p:nvPr>
        </p:nvSpPr>
        <p:spPr/>
        <p:txBody>
          <a:bodyPr>
            <a:normAutofit/>
          </a:bodyPr>
          <a:lstStyle/>
          <a:p>
            <a:pPr marL="0" indent="0">
              <a:buNone/>
            </a:pPr>
            <a:r>
              <a:rPr lang="en-US" sz="2400" dirty="0"/>
              <a:t>Who can name a few acts regarding electronic surveillance ?</a:t>
            </a:r>
          </a:p>
          <a:p>
            <a:endParaRPr lang="en-US" sz="2400" dirty="0"/>
          </a:p>
          <a:p>
            <a:endParaRPr lang="en-US" sz="2400" dirty="0"/>
          </a:p>
        </p:txBody>
      </p:sp>
      <p:pic>
        <p:nvPicPr>
          <p:cNvPr id="4" name="Content Placeholder 4" descr="Figure 4-2: This figure shows a timeline for the enactment of some of the most significant laws and executive orders addressing issues of governmental surveillance:&#10;1968: Title III of the Omnibus Crime Control and Safe Streets Act&#10;1978; The Foreign Intelligence Surveillance Act&#10;1981: Executive Order 12333&#10;1986: Electronic Communications Privacy Act&#10;1994: Communications Assistance for Law Enforcement&#10;2001: USA PATRIOT Act&#10;2004: Foreign Intelligence Surveillance Act Amendment&#10;2008: Foreign Intelligence Surveillance Act Amendment&#10;2011: PATRIOT Extension Act&#10;2015: USA Freedom Act&#10;">
            <a:extLst>
              <a:ext uri="{FF2B5EF4-FFF2-40B4-BE49-F238E27FC236}">
                <a16:creationId xmlns:a16="http://schemas.microsoft.com/office/drawing/2014/main" id="{03968FE2-A4FB-4AFD-8C92-23CC1EE5E60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3774" y="2886683"/>
            <a:ext cx="9011197" cy="3352800"/>
          </a:xfrm>
          <a:prstGeom prst="rect">
            <a:avLst/>
          </a:prstGeom>
        </p:spPr>
      </p:pic>
    </p:spTree>
    <p:extLst>
      <p:ext uri="{BB962C8B-B14F-4D97-AF65-F5344CB8AC3E}">
        <p14:creationId xmlns:p14="http://schemas.microsoft.com/office/powerpoint/2010/main" val="39950106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D2A72-A290-48E7-9E1C-29C1280C4FDF}"/>
              </a:ext>
            </a:extLst>
          </p:cNvPr>
          <p:cNvSpPr>
            <a:spLocks noGrp="1"/>
          </p:cNvSpPr>
          <p:nvPr>
            <p:ph type="title"/>
          </p:nvPr>
        </p:nvSpPr>
        <p:spPr/>
        <p:txBody>
          <a:bodyPr/>
          <a:lstStyle/>
          <a:p>
            <a:r>
              <a:rPr lang="en-US" dirty="0"/>
              <a:t>Title 111 of the omnibus crime control and safe streets act 1968</a:t>
            </a:r>
          </a:p>
        </p:txBody>
      </p:sp>
      <p:sp>
        <p:nvSpPr>
          <p:cNvPr id="3" name="Content Placeholder 2">
            <a:extLst>
              <a:ext uri="{FF2B5EF4-FFF2-40B4-BE49-F238E27FC236}">
                <a16:creationId xmlns:a16="http://schemas.microsoft.com/office/drawing/2014/main" id="{9C4C0320-4051-4A6F-99C2-FFBE6251B047}"/>
              </a:ext>
            </a:extLst>
          </p:cNvPr>
          <p:cNvSpPr>
            <a:spLocks noGrp="1"/>
          </p:cNvSpPr>
          <p:nvPr>
            <p:ph sz="quarter" idx="13"/>
          </p:nvPr>
        </p:nvSpPr>
        <p:spPr/>
        <p:txBody>
          <a:bodyPr>
            <a:normAutofit/>
          </a:bodyPr>
          <a:lstStyle/>
          <a:p>
            <a:r>
              <a:rPr lang="en-US" sz="2400" dirty="0"/>
              <a:t>This is Also known as the Wiretap Act</a:t>
            </a:r>
          </a:p>
          <a:p>
            <a:pPr marL="0" indent="0">
              <a:buNone/>
            </a:pPr>
            <a:r>
              <a:rPr lang="en-US" sz="2400" dirty="0"/>
              <a:t>Who knows what wire tapping is ?</a:t>
            </a:r>
          </a:p>
          <a:p>
            <a:r>
              <a:rPr lang="en-US" altLang="en-US" sz="2400" dirty="0"/>
              <a:t>This act Regulates the interception of wire and oral communications</a:t>
            </a:r>
          </a:p>
          <a:p>
            <a:r>
              <a:rPr lang="en-US" sz="2400" dirty="0"/>
              <a:t>Allows state and federal law enforcement officials to use wiretapping and electronic eavesdropping if a warrant is issued</a:t>
            </a:r>
          </a:p>
        </p:txBody>
      </p:sp>
    </p:spTree>
    <p:extLst>
      <p:ext uri="{BB962C8B-B14F-4D97-AF65-F5344CB8AC3E}">
        <p14:creationId xmlns:p14="http://schemas.microsoft.com/office/powerpoint/2010/main" val="1120458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1000"/>
                                        <p:tgtEl>
                                          <p:spTgt spid="3">
                                            <p:txEl>
                                              <p:pRg st="2" end="2"/>
                                            </p:txEl>
                                          </p:spTgt>
                                        </p:tgtEl>
                                      </p:cBhvr>
                                    </p:animEffect>
                                    <p:anim calcmode="lin" valueType="num">
                                      <p:cBhvr>
                                        <p:cTn id="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1000"/>
                                        <p:tgtEl>
                                          <p:spTgt spid="3">
                                            <p:txEl>
                                              <p:pRg st="3" end="3"/>
                                            </p:txEl>
                                          </p:spTgt>
                                        </p:tgtEl>
                                      </p:cBhvr>
                                    </p:animEffect>
                                    <p:anim calcmode="lin" valueType="num">
                                      <p:cBhvr>
                                        <p:cTn id="1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4E9B1A-09DC-4987-995C-C8EFA1782DB5}"/>
              </a:ext>
            </a:extLst>
          </p:cNvPr>
          <p:cNvSpPr>
            <a:spLocks noGrp="1"/>
          </p:cNvSpPr>
          <p:nvPr>
            <p:ph type="title"/>
          </p:nvPr>
        </p:nvSpPr>
        <p:spPr/>
        <p:txBody>
          <a:bodyPr/>
          <a:lstStyle/>
          <a:p>
            <a:r>
              <a:rPr lang="en-US" dirty="0"/>
              <a:t>The foreign intelligence surveillance act 1978</a:t>
            </a:r>
          </a:p>
        </p:txBody>
      </p:sp>
      <p:sp>
        <p:nvSpPr>
          <p:cNvPr id="3" name="Content Placeholder 2">
            <a:extLst>
              <a:ext uri="{FF2B5EF4-FFF2-40B4-BE49-F238E27FC236}">
                <a16:creationId xmlns:a16="http://schemas.microsoft.com/office/drawing/2014/main" id="{3FDE383C-8FA2-4A73-AB3C-A7D9E2B05186}"/>
              </a:ext>
            </a:extLst>
          </p:cNvPr>
          <p:cNvSpPr>
            <a:spLocks noGrp="1"/>
          </p:cNvSpPr>
          <p:nvPr>
            <p:ph sz="quarter" idx="13"/>
          </p:nvPr>
        </p:nvSpPr>
        <p:spPr/>
        <p:txBody>
          <a:bodyPr>
            <a:normAutofit/>
          </a:bodyPr>
          <a:lstStyle/>
          <a:p>
            <a:r>
              <a:rPr lang="en-US" sz="2400" dirty="0"/>
              <a:t>Allows surveillance, without court order, within the U.S. for up to a year unless the surveillance will acquire the contents of any communication to which a U.S. citizen, permanent resident, or company is a party</a:t>
            </a:r>
          </a:p>
          <a:p>
            <a:r>
              <a:rPr lang="en-US" sz="2400" dirty="0"/>
              <a:t>Requires the government to obtain an individualized court order before it can intentionally target a U.S. person anywhere in the world </a:t>
            </a:r>
          </a:p>
        </p:txBody>
      </p:sp>
    </p:spTree>
    <p:extLst>
      <p:ext uri="{BB962C8B-B14F-4D97-AF65-F5344CB8AC3E}">
        <p14:creationId xmlns:p14="http://schemas.microsoft.com/office/powerpoint/2010/main" val="12856449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167844-3EA3-4F50-8BEC-6A67DB1533DC}"/>
              </a:ext>
            </a:extLst>
          </p:cNvPr>
          <p:cNvSpPr>
            <a:spLocks noGrp="1"/>
          </p:cNvSpPr>
          <p:nvPr>
            <p:ph type="title"/>
          </p:nvPr>
        </p:nvSpPr>
        <p:spPr/>
        <p:txBody>
          <a:bodyPr/>
          <a:lstStyle/>
          <a:p>
            <a:r>
              <a:rPr lang="en-US" dirty="0"/>
              <a:t>Executive order 12333 1981</a:t>
            </a:r>
          </a:p>
        </p:txBody>
      </p:sp>
      <p:sp>
        <p:nvSpPr>
          <p:cNvPr id="3" name="Content Placeholder 2">
            <a:extLst>
              <a:ext uri="{FF2B5EF4-FFF2-40B4-BE49-F238E27FC236}">
                <a16:creationId xmlns:a16="http://schemas.microsoft.com/office/drawing/2014/main" id="{E3D530F1-A721-435D-A75B-591F06EE7468}"/>
              </a:ext>
            </a:extLst>
          </p:cNvPr>
          <p:cNvSpPr>
            <a:spLocks noGrp="1"/>
          </p:cNvSpPr>
          <p:nvPr>
            <p:ph sz="quarter" idx="13"/>
          </p:nvPr>
        </p:nvSpPr>
        <p:spPr/>
        <p:txBody>
          <a:bodyPr>
            <a:normAutofit/>
          </a:bodyPr>
          <a:lstStyle/>
          <a:p>
            <a:r>
              <a:rPr lang="en-US" sz="2400" dirty="0"/>
              <a:t>Central intelligence Agency CIA</a:t>
            </a:r>
          </a:p>
          <a:p>
            <a:r>
              <a:rPr lang="en-US" sz="2400" dirty="0"/>
              <a:t>Defense Intelligence Agency DIA</a:t>
            </a:r>
          </a:p>
          <a:p>
            <a:r>
              <a:rPr lang="en-US" sz="2400" dirty="0"/>
              <a:t>National security agency NSA</a:t>
            </a:r>
          </a:p>
          <a:p>
            <a:r>
              <a:rPr lang="en-US" sz="2400" dirty="0"/>
              <a:t>Federal bureau of investigation FBI</a:t>
            </a:r>
          </a:p>
          <a:p>
            <a:r>
              <a:rPr lang="en-US" sz="2400" dirty="0"/>
              <a:t>Drug enforcement agency DEA</a:t>
            </a:r>
          </a:p>
          <a:p>
            <a:r>
              <a:rPr lang="en-US" sz="2400" dirty="0"/>
              <a:t>Department of homeland security </a:t>
            </a:r>
          </a:p>
        </p:txBody>
      </p:sp>
    </p:spTree>
    <p:extLst>
      <p:ext uri="{BB962C8B-B14F-4D97-AF65-F5344CB8AC3E}">
        <p14:creationId xmlns:p14="http://schemas.microsoft.com/office/powerpoint/2010/main" val="7220168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AFC5E2-4FE1-4285-93D2-74F52D35A95F}"/>
              </a:ext>
            </a:extLst>
          </p:cNvPr>
          <p:cNvSpPr>
            <a:spLocks noGrp="1"/>
          </p:cNvSpPr>
          <p:nvPr>
            <p:ph type="title"/>
          </p:nvPr>
        </p:nvSpPr>
        <p:spPr/>
        <p:txBody>
          <a:bodyPr/>
          <a:lstStyle/>
          <a:p>
            <a:r>
              <a:rPr lang="en-US" dirty="0"/>
              <a:t>Electronic communications privacy act 1986</a:t>
            </a:r>
          </a:p>
        </p:txBody>
      </p:sp>
      <p:sp>
        <p:nvSpPr>
          <p:cNvPr id="3" name="Content Placeholder 2">
            <a:extLst>
              <a:ext uri="{FF2B5EF4-FFF2-40B4-BE49-F238E27FC236}">
                <a16:creationId xmlns:a16="http://schemas.microsoft.com/office/drawing/2014/main" id="{C04B0749-551F-4F71-B2BD-1E21FC3755CB}"/>
              </a:ext>
            </a:extLst>
          </p:cNvPr>
          <p:cNvSpPr>
            <a:spLocks noGrp="1"/>
          </p:cNvSpPr>
          <p:nvPr>
            <p:ph sz="quarter" idx="13"/>
          </p:nvPr>
        </p:nvSpPr>
        <p:spPr/>
        <p:txBody>
          <a:bodyPr>
            <a:normAutofit/>
          </a:bodyPr>
          <a:lstStyle/>
          <a:p>
            <a:r>
              <a:rPr lang="en-US" sz="2400" dirty="0"/>
              <a:t>Protection of communications while in transfer from sender to receiver</a:t>
            </a:r>
          </a:p>
          <a:p>
            <a:r>
              <a:rPr lang="en-US" sz="2400" dirty="0"/>
              <a:t>Protection of communications held in electronic storage</a:t>
            </a:r>
          </a:p>
          <a:p>
            <a:r>
              <a:rPr lang="en-US" sz="2400" dirty="0"/>
              <a:t>Prohibition of devices from recording dialing, routing, addressing, and signaling information without a search warrant</a:t>
            </a:r>
          </a:p>
        </p:txBody>
      </p:sp>
    </p:spTree>
    <p:extLst>
      <p:ext uri="{BB962C8B-B14F-4D97-AF65-F5344CB8AC3E}">
        <p14:creationId xmlns:p14="http://schemas.microsoft.com/office/powerpoint/2010/main" val="35841708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AFC5E2-4FE1-4285-93D2-74F52D35A95F}"/>
              </a:ext>
            </a:extLst>
          </p:cNvPr>
          <p:cNvSpPr>
            <a:spLocks noGrp="1"/>
          </p:cNvSpPr>
          <p:nvPr>
            <p:ph type="title"/>
          </p:nvPr>
        </p:nvSpPr>
        <p:spPr/>
        <p:txBody>
          <a:bodyPr/>
          <a:lstStyle/>
          <a:p>
            <a:r>
              <a:rPr lang="en-US" dirty="0"/>
              <a:t>Electronic communications privacy act 1986</a:t>
            </a:r>
          </a:p>
        </p:txBody>
      </p:sp>
      <p:sp>
        <p:nvSpPr>
          <p:cNvPr id="3" name="Content Placeholder 2">
            <a:extLst>
              <a:ext uri="{FF2B5EF4-FFF2-40B4-BE49-F238E27FC236}">
                <a16:creationId xmlns:a16="http://schemas.microsoft.com/office/drawing/2014/main" id="{C04B0749-551F-4F71-B2BD-1E21FC3755CB}"/>
              </a:ext>
            </a:extLst>
          </p:cNvPr>
          <p:cNvSpPr>
            <a:spLocks noGrp="1"/>
          </p:cNvSpPr>
          <p:nvPr>
            <p:ph sz="quarter" idx="13"/>
          </p:nvPr>
        </p:nvSpPr>
        <p:spPr>
          <a:xfrm>
            <a:off x="913774" y="2367092"/>
            <a:ext cx="10363826" cy="4079428"/>
          </a:xfrm>
        </p:spPr>
        <p:txBody>
          <a:bodyPr>
            <a:normAutofit lnSpcReduction="10000"/>
          </a:bodyPr>
          <a:lstStyle/>
          <a:p>
            <a:r>
              <a:rPr lang="en-US" sz="2400" b="1" dirty="0"/>
              <a:t>National Security Letter (NSL): </a:t>
            </a:r>
          </a:p>
          <a:p>
            <a:pPr lvl="1">
              <a:buClr>
                <a:schemeClr val="accent2"/>
              </a:buClr>
            </a:pPr>
            <a:r>
              <a:rPr lang="en-US" altLang="en-US" sz="2500" dirty="0"/>
              <a:t>C</a:t>
            </a:r>
            <a:r>
              <a:rPr lang="en-US" sz="2500" dirty="0"/>
              <a:t>ompels holders of your personal records to turn them over to the government</a:t>
            </a:r>
          </a:p>
          <a:p>
            <a:pPr lvl="1">
              <a:buClr>
                <a:schemeClr val="accent2"/>
              </a:buClr>
            </a:pPr>
            <a:r>
              <a:rPr lang="en-US" sz="2500" dirty="0"/>
              <a:t>Not subject to judicial review or oversight</a:t>
            </a:r>
          </a:p>
          <a:p>
            <a:pPr lvl="1">
              <a:buClr>
                <a:schemeClr val="accent2"/>
              </a:buClr>
            </a:pPr>
            <a:r>
              <a:rPr lang="en-US" altLang="en-US" sz="2500" dirty="0"/>
              <a:t>NSL gag provision: Prohibits NSL recipients from revealing that the government has requested an individual’s records</a:t>
            </a:r>
          </a:p>
          <a:p>
            <a:r>
              <a:rPr lang="en-US" sz="2400" b="1" dirty="0"/>
              <a:t>Pen register</a:t>
            </a:r>
          </a:p>
          <a:p>
            <a:r>
              <a:rPr lang="en-US" sz="2400" b="1" dirty="0"/>
              <a:t>Trap and trace</a:t>
            </a:r>
          </a:p>
        </p:txBody>
      </p:sp>
    </p:spTree>
    <p:extLst>
      <p:ext uri="{BB962C8B-B14F-4D97-AF65-F5344CB8AC3E}">
        <p14:creationId xmlns:p14="http://schemas.microsoft.com/office/powerpoint/2010/main" val="11621333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367745-E03E-4AAD-B7E9-ADD249823BA4}"/>
              </a:ext>
            </a:extLst>
          </p:cNvPr>
          <p:cNvSpPr>
            <a:spLocks noGrp="1"/>
          </p:cNvSpPr>
          <p:nvPr>
            <p:ph type="title"/>
          </p:nvPr>
        </p:nvSpPr>
        <p:spPr/>
        <p:txBody>
          <a:bodyPr/>
          <a:lstStyle/>
          <a:p>
            <a:r>
              <a:rPr lang="en-US" dirty="0"/>
              <a:t>Communications assistance for law enforcement 1994</a:t>
            </a:r>
          </a:p>
        </p:txBody>
      </p:sp>
      <p:sp>
        <p:nvSpPr>
          <p:cNvPr id="3" name="Content Placeholder 2">
            <a:extLst>
              <a:ext uri="{FF2B5EF4-FFF2-40B4-BE49-F238E27FC236}">
                <a16:creationId xmlns:a16="http://schemas.microsoft.com/office/drawing/2014/main" id="{460C4FAD-276C-4987-A77D-A83C785A50F3}"/>
              </a:ext>
            </a:extLst>
          </p:cNvPr>
          <p:cNvSpPr>
            <a:spLocks noGrp="1"/>
          </p:cNvSpPr>
          <p:nvPr>
            <p:ph sz="quarter" idx="13"/>
          </p:nvPr>
        </p:nvSpPr>
        <p:spPr/>
        <p:txBody>
          <a:bodyPr>
            <a:normAutofit/>
          </a:bodyPr>
          <a:lstStyle/>
          <a:p>
            <a:r>
              <a:rPr lang="en-US" altLang="en-US" sz="2400" dirty="0"/>
              <a:t>Required the telecommunications industry to build tools into its products for use by federal investigators, after obtaining a court order, to intercept communications</a:t>
            </a:r>
            <a:endParaRPr lang="en-US" sz="2400" dirty="0"/>
          </a:p>
        </p:txBody>
      </p:sp>
    </p:spTree>
    <p:extLst>
      <p:ext uri="{BB962C8B-B14F-4D97-AF65-F5344CB8AC3E}">
        <p14:creationId xmlns:p14="http://schemas.microsoft.com/office/powerpoint/2010/main" val="32673793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45421A-8C1E-4BAC-9BBA-F5C4F56CBB25}"/>
              </a:ext>
            </a:extLst>
          </p:cNvPr>
          <p:cNvSpPr>
            <a:spLocks noGrp="1"/>
          </p:cNvSpPr>
          <p:nvPr>
            <p:ph type="title"/>
          </p:nvPr>
        </p:nvSpPr>
        <p:spPr/>
        <p:txBody>
          <a:bodyPr/>
          <a:lstStyle/>
          <a:p>
            <a:r>
              <a:rPr lang="en-US" dirty="0"/>
              <a:t>USA patriot act 2001</a:t>
            </a:r>
          </a:p>
        </p:txBody>
      </p:sp>
      <p:sp>
        <p:nvSpPr>
          <p:cNvPr id="3" name="Content Placeholder 2">
            <a:extLst>
              <a:ext uri="{FF2B5EF4-FFF2-40B4-BE49-F238E27FC236}">
                <a16:creationId xmlns:a16="http://schemas.microsoft.com/office/drawing/2014/main" id="{BE989549-65DB-43FA-8BAC-2C6CEB04F93F}"/>
              </a:ext>
            </a:extLst>
          </p:cNvPr>
          <p:cNvSpPr>
            <a:spLocks noGrp="1"/>
          </p:cNvSpPr>
          <p:nvPr>
            <p:ph sz="quarter" idx="13"/>
          </p:nvPr>
        </p:nvSpPr>
        <p:spPr/>
        <p:txBody>
          <a:bodyPr>
            <a:normAutofit/>
          </a:bodyPr>
          <a:lstStyle/>
          <a:p>
            <a:r>
              <a:rPr lang="en-US" sz="2400" dirty="0"/>
              <a:t>Increased their ability to search telephone, email, </a:t>
            </a:r>
            <a:br>
              <a:rPr lang="en-US" sz="2400" dirty="0"/>
            </a:br>
            <a:r>
              <a:rPr lang="en-US" sz="2400" dirty="0"/>
              <a:t>medical, financial, and other records</a:t>
            </a:r>
          </a:p>
          <a:p>
            <a:r>
              <a:rPr lang="en-US" sz="2400" dirty="0"/>
              <a:t>Passed five weeks after the terrorist attacks of </a:t>
            </a:r>
            <a:br>
              <a:rPr lang="en-US" sz="2400" dirty="0"/>
            </a:br>
            <a:r>
              <a:rPr lang="en-US" sz="2400" dirty="0"/>
              <a:t>September 11, 2001</a:t>
            </a:r>
          </a:p>
        </p:txBody>
      </p:sp>
    </p:spTree>
    <p:extLst>
      <p:ext uri="{BB962C8B-B14F-4D97-AF65-F5344CB8AC3E}">
        <p14:creationId xmlns:p14="http://schemas.microsoft.com/office/powerpoint/2010/main" val="6128840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0FF3DC-8395-4FFB-8FB6-18F33D812777}"/>
              </a:ext>
            </a:extLst>
          </p:cNvPr>
          <p:cNvSpPr>
            <a:spLocks noGrp="1"/>
          </p:cNvSpPr>
          <p:nvPr>
            <p:ph type="title"/>
          </p:nvPr>
        </p:nvSpPr>
        <p:spPr/>
        <p:txBody>
          <a:bodyPr/>
          <a:lstStyle/>
          <a:p>
            <a:r>
              <a:rPr lang="en-US" dirty="0"/>
              <a:t>Foreign intelligence surveillance act amendment 2004</a:t>
            </a:r>
          </a:p>
        </p:txBody>
      </p:sp>
      <p:sp>
        <p:nvSpPr>
          <p:cNvPr id="3" name="Content Placeholder 2">
            <a:extLst>
              <a:ext uri="{FF2B5EF4-FFF2-40B4-BE49-F238E27FC236}">
                <a16:creationId xmlns:a16="http://schemas.microsoft.com/office/drawing/2014/main" id="{8D2F1034-35EB-4CE7-BAF5-8B2D628274D6}"/>
              </a:ext>
            </a:extLst>
          </p:cNvPr>
          <p:cNvSpPr>
            <a:spLocks noGrp="1"/>
          </p:cNvSpPr>
          <p:nvPr>
            <p:ph sz="quarter" idx="13"/>
          </p:nvPr>
        </p:nvSpPr>
        <p:spPr/>
        <p:txBody>
          <a:bodyPr>
            <a:normAutofit/>
          </a:bodyPr>
          <a:lstStyle/>
          <a:p>
            <a:r>
              <a:rPr lang="en-US" sz="2400" dirty="0"/>
              <a:t>Authorized intelligence gathering on individuals not affiliated with any known terrorist organization (so-called lone wolves)</a:t>
            </a:r>
          </a:p>
        </p:txBody>
      </p:sp>
    </p:spTree>
    <p:extLst>
      <p:ext uri="{BB962C8B-B14F-4D97-AF65-F5344CB8AC3E}">
        <p14:creationId xmlns:p14="http://schemas.microsoft.com/office/powerpoint/2010/main" val="26269783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EC6EA1-0931-4AC8-BF39-93ED7DCF1265}"/>
              </a:ext>
            </a:extLst>
          </p:cNvPr>
          <p:cNvSpPr>
            <a:spLocks noGrp="1"/>
          </p:cNvSpPr>
          <p:nvPr>
            <p:ph type="title"/>
          </p:nvPr>
        </p:nvSpPr>
        <p:spPr/>
        <p:txBody>
          <a:bodyPr/>
          <a:lstStyle/>
          <a:p>
            <a:r>
              <a:rPr lang="en-US" dirty="0"/>
              <a:t>Foreign intelligence surveillance act amendment 2008</a:t>
            </a:r>
          </a:p>
        </p:txBody>
      </p:sp>
      <p:sp>
        <p:nvSpPr>
          <p:cNvPr id="3" name="Content Placeholder 2">
            <a:extLst>
              <a:ext uri="{FF2B5EF4-FFF2-40B4-BE49-F238E27FC236}">
                <a16:creationId xmlns:a16="http://schemas.microsoft.com/office/drawing/2014/main" id="{7170A8F6-2D5B-461A-839C-2CE82E4587E2}"/>
              </a:ext>
            </a:extLst>
          </p:cNvPr>
          <p:cNvSpPr>
            <a:spLocks noGrp="1"/>
          </p:cNvSpPr>
          <p:nvPr>
            <p:ph sz="quarter" idx="13"/>
          </p:nvPr>
        </p:nvSpPr>
        <p:spPr/>
        <p:txBody>
          <a:bodyPr>
            <a:normAutofit/>
          </a:bodyPr>
          <a:lstStyle/>
          <a:p>
            <a:r>
              <a:rPr lang="en-US" sz="2400" dirty="0"/>
              <a:t>Granted NSA expanded authority to collect (without court-approved warrants) international communications as they flow through U.S. telecom network equipment and facilities</a:t>
            </a:r>
          </a:p>
        </p:txBody>
      </p:sp>
    </p:spTree>
    <p:extLst>
      <p:ext uri="{BB962C8B-B14F-4D97-AF65-F5344CB8AC3E}">
        <p14:creationId xmlns:p14="http://schemas.microsoft.com/office/powerpoint/2010/main" val="40384596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D6F476-1D05-4B63-A9EC-EE3F10729A37}"/>
              </a:ext>
            </a:extLst>
          </p:cNvPr>
          <p:cNvSpPr>
            <a:spLocks noGrp="1"/>
          </p:cNvSpPr>
          <p:nvPr>
            <p:ph type="title"/>
          </p:nvPr>
        </p:nvSpPr>
        <p:spPr/>
        <p:txBody>
          <a:bodyPr/>
          <a:lstStyle/>
          <a:p>
            <a:r>
              <a:rPr lang="en-US" dirty="0"/>
              <a:t>Patriot extension act 2011</a:t>
            </a:r>
          </a:p>
        </p:txBody>
      </p:sp>
      <p:sp>
        <p:nvSpPr>
          <p:cNvPr id="3" name="Content Placeholder 2">
            <a:extLst>
              <a:ext uri="{FF2B5EF4-FFF2-40B4-BE49-F238E27FC236}">
                <a16:creationId xmlns:a16="http://schemas.microsoft.com/office/drawing/2014/main" id="{3B719693-A27B-47D4-AEF5-3852895DA722}"/>
              </a:ext>
            </a:extLst>
          </p:cNvPr>
          <p:cNvSpPr>
            <a:spLocks noGrp="1"/>
          </p:cNvSpPr>
          <p:nvPr>
            <p:ph sz="quarter" idx="13"/>
          </p:nvPr>
        </p:nvSpPr>
        <p:spPr/>
        <p:txBody>
          <a:bodyPr>
            <a:normAutofit/>
          </a:bodyPr>
          <a:lstStyle/>
          <a:p>
            <a:r>
              <a:rPr lang="en-US" sz="2400" dirty="0"/>
              <a:t>Law that granted a four-year extension of roving wiretaps and searches of business records; also extended authorized intelligence gathering on “lone wolves”</a:t>
            </a:r>
          </a:p>
        </p:txBody>
      </p:sp>
    </p:spTree>
    <p:extLst>
      <p:ext uri="{BB962C8B-B14F-4D97-AF65-F5344CB8AC3E}">
        <p14:creationId xmlns:p14="http://schemas.microsoft.com/office/powerpoint/2010/main" val="346070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E24F21-D03A-4603-8923-8ECDF15DCCA4}"/>
              </a:ext>
            </a:extLst>
          </p:cNvPr>
          <p:cNvSpPr>
            <a:spLocks noGrp="1"/>
          </p:cNvSpPr>
          <p:nvPr>
            <p:ph type="title"/>
          </p:nvPr>
        </p:nvSpPr>
        <p:spPr/>
        <p:txBody>
          <a:bodyPr/>
          <a:lstStyle/>
          <a:p>
            <a:r>
              <a:rPr lang="en-US" dirty="0"/>
              <a:t>USA freedom act 2015</a:t>
            </a:r>
          </a:p>
        </p:txBody>
      </p:sp>
      <p:sp>
        <p:nvSpPr>
          <p:cNvPr id="3" name="Content Placeholder 2">
            <a:extLst>
              <a:ext uri="{FF2B5EF4-FFF2-40B4-BE49-F238E27FC236}">
                <a16:creationId xmlns:a16="http://schemas.microsoft.com/office/drawing/2014/main" id="{79163DCF-5AB6-4619-92BC-F41188BAAEF6}"/>
              </a:ext>
            </a:extLst>
          </p:cNvPr>
          <p:cNvSpPr>
            <a:spLocks noGrp="1"/>
          </p:cNvSpPr>
          <p:nvPr>
            <p:ph sz="quarter" idx="13"/>
          </p:nvPr>
        </p:nvSpPr>
        <p:spPr/>
        <p:txBody>
          <a:bodyPr>
            <a:normAutofit/>
          </a:bodyPr>
          <a:lstStyle/>
          <a:p>
            <a:r>
              <a:rPr lang="en-US" sz="2400" dirty="0"/>
              <a:t>Terminated NSA’s bulk collection of telephone metadata</a:t>
            </a:r>
          </a:p>
          <a:p>
            <a:r>
              <a:rPr lang="en-US" sz="2400" dirty="0"/>
              <a:t>Telecommunications providers are now required to hold that data and respond to NSA queries</a:t>
            </a:r>
          </a:p>
        </p:txBody>
      </p:sp>
    </p:spTree>
    <p:extLst>
      <p:ext uri="{BB962C8B-B14F-4D97-AF65-F5344CB8AC3E}">
        <p14:creationId xmlns:p14="http://schemas.microsoft.com/office/powerpoint/2010/main" val="30034940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963E24-56A0-48A1-AD8B-320B731E910B}"/>
              </a:ext>
            </a:extLst>
          </p:cNvPr>
          <p:cNvSpPr>
            <a:spLocks noGrp="1"/>
          </p:cNvSpPr>
          <p:nvPr>
            <p:ph type="title"/>
          </p:nvPr>
        </p:nvSpPr>
        <p:spPr/>
        <p:txBody>
          <a:bodyPr/>
          <a:lstStyle/>
          <a:p>
            <a:r>
              <a:rPr lang="en-US" dirty="0"/>
              <a:t>privacy laws, applications and court rulings: fair information practices</a:t>
            </a:r>
          </a:p>
        </p:txBody>
      </p:sp>
      <p:sp>
        <p:nvSpPr>
          <p:cNvPr id="3" name="Content Placeholder 2">
            <a:extLst>
              <a:ext uri="{FF2B5EF4-FFF2-40B4-BE49-F238E27FC236}">
                <a16:creationId xmlns:a16="http://schemas.microsoft.com/office/drawing/2014/main" id="{02F8B21E-B5AC-4028-814C-7960FF6C524D}"/>
              </a:ext>
            </a:extLst>
          </p:cNvPr>
          <p:cNvSpPr>
            <a:spLocks noGrp="1"/>
          </p:cNvSpPr>
          <p:nvPr>
            <p:ph sz="quarter" idx="13"/>
          </p:nvPr>
        </p:nvSpPr>
        <p:spPr>
          <a:xfrm>
            <a:off x="914399" y="2214694"/>
            <a:ext cx="10363826" cy="3424107"/>
          </a:xfrm>
        </p:spPr>
        <p:txBody>
          <a:bodyPr>
            <a:noAutofit/>
          </a:bodyPr>
          <a:lstStyle/>
          <a:p>
            <a:pPr marL="0" indent="0">
              <a:buNone/>
            </a:pPr>
            <a:r>
              <a:rPr lang="en-US" sz="2400" dirty="0"/>
              <a:t>Who can name a few acts regarding fair information practice ?</a:t>
            </a:r>
          </a:p>
          <a:p>
            <a:r>
              <a:rPr lang="en-US" sz="2400" dirty="0"/>
              <a:t>Organization for economic co-operation and development for the protection of privacy and transborder flows of personal data (1980)</a:t>
            </a:r>
          </a:p>
          <a:p>
            <a:r>
              <a:rPr lang="en-US" sz="2400" dirty="0"/>
              <a:t>European union data protection directive (1995)</a:t>
            </a:r>
          </a:p>
          <a:p>
            <a:r>
              <a:rPr lang="en-US" sz="2400" dirty="0"/>
              <a:t>European-united states privacy shield data transfer program guidelines</a:t>
            </a:r>
          </a:p>
          <a:p>
            <a:r>
              <a:rPr lang="en-US" sz="2400" dirty="0"/>
              <a:t>General data protection regulation </a:t>
            </a:r>
          </a:p>
        </p:txBody>
      </p:sp>
    </p:spTree>
    <p:extLst>
      <p:ext uri="{BB962C8B-B14F-4D97-AF65-F5344CB8AC3E}">
        <p14:creationId xmlns:p14="http://schemas.microsoft.com/office/powerpoint/2010/main" val="1091672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 calcmode="lin" valueType="num">
                                      <p:cBhvr additive="base">
                                        <p:cTn id="1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77A5CB-E19F-4F7D-94D4-09674EDBEC38}"/>
              </a:ext>
            </a:extLst>
          </p:cNvPr>
          <p:cNvSpPr>
            <a:spLocks noGrp="1"/>
          </p:cNvSpPr>
          <p:nvPr>
            <p:ph type="title"/>
          </p:nvPr>
        </p:nvSpPr>
        <p:spPr/>
        <p:txBody>
          <a:bodyPr>
            <a:normAutofit fontScale="90000"/>
          </a:bodyPr>
          <a:lstStyle/>
          <a:p>
            <a:r>
              <a:rPr lang="en-US" dirty="0"/>
              <a:t>Organization for economic co-operation and development for the protection of privacy and transborder flows of personal data (1980)</a:t>
            </a:r>
          </a:p>
        </p:txBody>
      </p:sp>
      <p:sp>
        <p:nvSpPr>
          <p:cNvPr id="3" name="Content Placeholder 2">
            <a:extLst>
              <a:ext uri="{FF2B5EF4-FFF2-40B4-BE49-F238E27FC236}">
                <a16:creationId xmlns:a16="http://schemas.microsoft.com/office/drawing/2014/main" id="{DE0EE5ED-EC70-4EE1-A681-E9671C4707A3}"/>
              </a:ext>
            </a:extLst>
          </p:cNvPr>
          <p:cNvSpPr>
            <a:spLocks noGrp="1"/>
          </p:cNvSpPr>
          <p:nvPr>
            <p:ph sz="quarter" idx="13"/>
          </p:nvPr>
        </p:nvSpPr>
        <p:spPr>
          <a:xfrm>
            <a:off x="913774" y="2367092"/>
            <a:ext cx="10363826" cy="4285168"/>
          </a:xfrm>
        </p:spPr>
        <p:txBody>
          <a:bodyPr>
            <a:normAutofit fontScale="92500" lnSpcReduction="10000"/>
          </a:bodyPr>
          <a:lstStyle/>
          <a:p>
            <a:pPr marL="0" indent="0">
              <a:buNone/>
            </a:pPr>
            <a:r>
              <a:rPr lang="en-US" sz="2400" b="1" dirty="0"/>
              <a:t>OECD fair information practices guidelines are composed </a:t>
            </a:r>
            <a:br>
              <a:rPr lang="en-US" sz="2400" b="1" dirty="0"/>
            </a:br>
            <a:r>
              <a:rPr lang="en-US" sz="2400" b="1" dirty="0"/>
              <a:t>of eight principles:</a:t>
            </a:r>
          </a:p>
          <a:p>
            <a:pPr lvl="1"/>
            <a:r>
              <a:rPr lang="en-US" sz="2200" dirty="0"/>
              <a:t>Collection limitation</a:t>
            </a:r>
          </a:p>
          <a:p>
            <a:pPr lvl="1"/>
            <a:r>
              <a:rPr lang="en-US" sz="2200" dirty="0"/>
              <a:t>Data quality</a:t>
            </a:r>
          </a:p>
          <a:p>
            <a:pPr lvl="1"/>
            <a:r>
              <a:rPr lang="en-US" sz="2200" dirty="0"/>
              <a:t>Purpose specification</a:t>
            </a:r>
          </a:p>
          <a:p>
            <a:pPr lvl="1"/>
            <a:r>
              <a:rPr lang="en-US" sz="2200" dirty="0"/>
              <a:t>Use limitation</a:t>
            </a:r>
          </a:p>
          <a:p>
            <a:pPr lvl="1"/>
            <a:r>
              <a:rPr lang="en-US" sz="2200" dirty="0"/>
              <a:t>Security safeguards</a:t>
            </a:r>
          </a:p>
          <a:p>
            <a:pPr lvl="1"/>
            <a:r>
              <a:rPr lang="en-US" sz="2200" dirty="0"/>
              <a:t>Openness principle</a:t>
            </a:r>
          </a:p>
          <a:p>
            <a:pPr lvl="1"/>
            <a:r>
              <a:rPr lang="en-US" sz="2200" dirty="0"/>
              <a:t>Individual participation</a:t>
            </a:r>
          </a:p>
          <a:p>
            <a:pPr lvl="1"/>
            <a:r>
              <a:rPr lang="en-US" sz="2200" dirty="0"/>
              <a:t>Accountability</a:t>
            </a:r>
          </a:p>
        </p:txBody>
      </p:sp>
    </p:spTree>
    <p:extLst>
      <p:ext uri="{BB962C8B-B14F-4D97-AF65-F5344CB8AC3E}">
        <p14:creationId xmlns:p14="http://schemas.microsoft.com/office/powerpoint/2010/main" val="26427757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D14B24-691B-42B1-B725-6F504580C687}"/>
              </a:ext>
            </a:extLst>
          </p:cNvPr>
          <p:cNvSpPr>
            <a:spLocks noGrp="1"/>
          </p:cNvSpPr>
          <p:nvPr>
            <p:ph type="title"/>
          </p:nvPr>
        </p:nvSpPr>
        <p:spPr/>
        <p:txBody>
          <a:bodyPr>
            <a:normAutofit/>
          </a:bodyPr>
          <a:lstStyle/>
          <a:p>
            <a:r>
              <a:rPr lang="en-US" dirty="0"/>
              <a:t>European union data protection directive (1995)</a:t>
            </a:r>
          </a:p>
        </p:txBody>
      </p:sp>
      <p:sp>
        <p:nvSpPr>
          <p:cNvPr id="3" name="Content Placeholder 2">
            <a:extLst>
              <a:ext uri="{FF2B5EF4-FFF2-40B4-BE49-F238E27FC236}">
                <a16:creationId xmlns:a16="http://schemas.microsoft.com/office/drawing/2014/main" id="{F4CC2DC4-9836-4348-AD01-B6FF0F7AD364}"/>
              </a:ext>
            </a:extLst>
          </p:cNvPr>
          <p:cNvSpPr>
            <a:spLocks noGrp="1"/>
          </p:cNvSpPr>
          <p:nvPr>
            <p:ph sz="quarter" idx="13"/>
          </p:nvPr>
        </p:nvSpPr>
        <p:spPr/>
        <p:txBody>
          <a:bodyPr>
            <a:normAutofit/>
          </a:bodyPr>
          <a:lstStyle/>
          <a:p>
            <a:r>
              <a:rPr lang="en-US" sz="2400" dirty="0"/>
              <a:t>Only U.S. companies certified as meeting certain “safe harbor” principles were allowed to process and store data of European consumers and companies</a:t>
            </a:r>
          </a:p>
        </p:txBody>
      </p:sp>
    </p:spTree>
    <p:extLst>
      <p:ext uri="{BB962C8B-B14F-4D97-AF65-F5344CB8AC3E}">
        <p14:creationId xmlns:p14="http://schemas.microsoft.com/office/powerpoint/2010/main" val="10422541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F8BC4B-103F-4E6C-8203-E227A8929FFC}"/>
              </a:ext>
            </a:extLst>
          </p:cNvPr>
          <p:cNvSpPr>
            <a:spLocks noGrp="1"/>
          </p:cNvSpPr>
          <p:nvPr>
            <p:ph type="title"/>
          </p:nvPr>
        </p:nvSpPr>
        <p:spPr/>
        <p:txBody>
          <a:bodyPr>
            <a:normAutofit/>
          </a:bodyPr>
          <a:lstStyle/>
          <a:p>
            <a:r>
              <a:rPr lang="en-US" dirty="0"/>
              <a:t>European-united states privacy shield data transfer program guidelines</a:t>
            </a:r>
          </a:p>
        </p:txBody>
      </p:sp>
      <p:sp>
        <p:nvSpPr>
          <p:cNvPr id="3" name="Content Placeholder 2">
            <a:extLst>
              <a:ext uri="{FF2B5EF4-FFF2-40B4-BE49-F238E27FC236}">
                <a16:creationId xmlns:a16="http://schemas.microsoft.com/office/drawing/2014/main" id="{2F413F3B-956E-433A-8418-B40A2A35A592}"/>
              </a:ext>
            </a:extLst>
          </p:cNvPr>
          <p:cNvSpPr>
            <a:spLocks noGrp="1"/>
          </p:cNvSpPr>
          <p:nvPr>
            <p:ph sz="quarter" idx="13"/>
          </p:nvPr>
        </p:nvSpPr>
        <p:spPr/>
        <p:txBody>
          <a:bodyPr/>
          <a:lstStyle/>
          <a:p>
            <a:r>
              <a:rPr lang="en-US" sz="2400" dirty="0"/>
              <a:t>Replaced the Safe Harbor agreement between the U.S. and EU, which was declared invalid by the European Court of Justice</a:t>
            </a:r>
          </a:p>
          <a:p>
            <a:r>
              <a:rPr lang="en-US" sz="2400" dirty="0"/>
              <a:t>Places stronger obligations on U.S. companies to protect the personal data of EU citizens and requires stronger enforcement by U.S. agencies</a:t>
            </a:r>
          </a:p>
        </p:txBody>
      </p:sp>
    </p:spTree>
    <p:extLst>
      <p:ext uri="{BB962C8B-B14F-4D97-AF65-F5344CB8AC3E}">
        <p14:creationId xmlns:p14="http://schemas.microsoft.com/office/powerpoint/2010/main" val="28721254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5D992-31B5-4A1D-87C4-DDED97CD96FC}"/>
              </a:ext>
            </a:extLst>
          </p:cNvPr>
          <p:cNvSpPr>
            <a:spLocks noGrp="1"/>
          </p:cNvSpPr>
          <p:nvPr>
            <p:ph type="title"/>
          </p:nvPr>
        </p:nvSpPr>
        <p:spPr/>
        <p:txBody>
          <a:bodyPr>
            <a:normAutofit/>
          </a:bodyPr>
          <a:lstStyle/>
          <a:p>
            <a:r>
              <a:rPr lang="en-US" dirty="0"/>
              <a:t>General data protection regulation</a:t>
            </a:r>
          </a:p>
        </p:txBody>
      </p:sp>
      <p:sp>
        <p:nvSpPr>
          <p:cNvPr id="3" name="Content Placeholder 2">
            <a:extLst>
              <a:ext uri="{FF2B5EF4-FFF2-40B4-BE49-F238E27FC236}">
                <a16:creationId xmlns:a16="http://schemas.microsoft.com/office/drawing/2014/main" id="{F0ABD66B-1985-42CC-B3CF-A6166B9E4EBB}"/>
              </a:ext>
            </a:extLst>
          </p:cNvPr>
          <p:cNvSpPr>
            <a:spLocks noGrp="1"/>
          </p:cNvSpPr>
          <p:nvPr>
            <p:ph sz="quarter" idx="13"/>
          </p:nvPr>
        </p:nvSpPr>
        <p:spPr/>
        <p:txBody>
          <a:bodyPr>
            <a:normAutofit/>
          </a:bodyPr>
          <a:lstStyle/>
          <a:p>
            <a:r>
              <a:rPr lang="en-US" sz="2400" dirty="0"/>
              <a:t>Organizations anywhere in the world that collect, store, </a:t>
            </a:r>
            <a:br>
              <a:rPr lang="en-US" sz="2400" dirty="0"/>
            </a:br>
            <a:r>
              <a:rPr lang="en-US" sz="2400" dirty="0"/>
              <a:t>or transfer personal data of EU citizens must ensure their systems and procedures are compliant</a:t>
            </a:r>
          </a:p>
          <a:p>
            <a:endParaRPr lang="en-US" sz="2400" dirty="0"/>
          </a:p>
        </p:txBody>
      </p:sp>
    </p:spTree>
    <p:extLst>
      <p:ext uri="{BB962C8B-B14F-4D97-AF65-F5344CB8AC3E}">
        <p14:creationId xmlns:p14="http://schemas.microsoft.com/office/powerpoint/2010/main" val="9086545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963E24-56A0-48A1-AD8B-320B731E910B}"/>
              </a:ext>
            </a:extLst>
          </p:cNvPr>
          <p:cNvSpPr>
            <a:spLocks noGrp="1"/>
          </p:cNvSpPr>
          <p:nvPr>
            <p:ph type="title"/>
          </p:nvPr>
        </p:nvSpPr>
        <p:spPr/>
        <p:txBody>
          <a:bodyPr/>
          <a:lstStyle/>
          <a:p>
            <a:r>
              <a:rPr lang="en-US" dirty="0"/>
              <a:t>privacy laws, applications and court rulings: access to government records</a:t>
            </a:r>
          </a:p>
        </p:txBody>
      </p:sp>
      <p:sp>
        <p:nvSpPr>
          <p:cNvPr id="3" name="Content Placeholder 2">
            <a:extLst>
              <a:ext uri="{FF2B5EF4-FFF2-40B4-BE49-F238E27FC236}">
                <a16:creationId xmlns:a16="http://schemas.microsoft.com/office/drawing/2014/main" id="{02F8B21E-B5AC-4028-814C-7960FF6C524D}"/>
              </a:ext>
            </a:extLst>
          </p:cNvPr>
          <p:cNvSpPr>
            <a:spLocks noGrp="1"/>
          </p:cNvSpPr>
          <p:nvPr>
            <p:ph sz="quarter" idx="13"/>
          </p:nvPr>
        </p:nvSpPr>
        <p:spPr>
          <a:xfrm>
            <a:off x="913774" y="2367092"/>
            <a:ext cx="10363826" cy="3424107"/>
          </a:xfrm>
        </p:spPr>
        <p:txBody>
          <a:bodyPr>
            <a:normAutofit/>
          </a:bodyPr>
          <a:lstStyle/>
          <a:p>
            <a:pPr marL="0" indent="0">
              <a:buNone/>
            </a:pPr>
            <a:r>
              <a:rPr lang="en-US" sz="2400" dirty="0"/>
              <a:t>Who can name a few acts regarding access to government records?</a:t>
            </a:r>
          </a:p>
          <a:p>
            <a:endParaRPr lang="en-US" sz="2400" dirty="0"/>
          </a:p>
          <a:p>
            <a:r>
              <a:rPr lang="en-US" sz="2400" dirty="0"/>
              <a:t>Freedom of information act (1966 amended 1974)</a:t>
            </a:r>
          </a:p>
          <a:p>
            <a:r>
              <a:rPr lang="en-US" sz="2400" dirty="0"/>
              <a:t>Privacy act (1974)</a:t>
            </a:r>
          </a:p>
          <a:p>
            <a:endParaRPr lang="en-US" sz="2400" dirty="0"/>
          </a:p>
          <a:p>
            <a:endParaRPr lang="en-US" sz="2400" dirty="0"/>
          </a:p>
          <a:p>
            <a:endParaRPr lang="en-US" sz="2400" dirty="0"/>
          </a:p>
        </p:txBody>
      </p:sp>
    </p:spTree>
    <p:extLst>
      <p:ext uri="{BB962C8B-B14F-4D97-AF65-F5344CB8AC3E}">
        <p14:creationId xmlns:p14="http://schemas.microsoft.com/office/powerpoint/2010/main" val="32350633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anim calcmode="lin" valueType="num">
                                      <p:cBhvr additive="base">
                                        <p:cTn id="1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B31AD0-EEA3-496D-8061-DCDFAAC85359}"/>
              </a:ext>
            </a:extLst>
          </p:cNvPr>
          <p:cNvSpPr>
            <a:spLocks noGrp="1"/>
          </p:cNvSpPr>
          <p:nvPr>
            <p:ph type="title"/>
          </p:nvPr>
        </p:nvSpPr>
        <p:spPr/>
        <p:txBody>
          <a:bodyPr>
            <a:normAutofit/>
          </a:bodyPr>
          <a:lstStyle/>
          <a:p>
            <a:r>
              <a:rPr lang="en-US" dirty="0"/>
              <a:t>Freedom of information act (1966 amended 1974)</a:t>
            </a:r>
          </a:p>
        </p:txBody>
      </p:sp>
      <p:sp>
        <p:nvSpPr>
          <p:cNvPr id="3" name="Content Placeholder 2">
            <a:extLst>
              <a:ext uri="{FF2B5EF4-FFF2-40B4-BE49-F238E27FC236}">
                <a16:creationId xmlns:a16="http://schemas.microsoft.com/office/drawing/2014/main" id="{17B6284C-2705-4F38-822F-02626FD07491}"/>
              </a:ext>
            </a:extLst>
          </p:cNvPr>
          <p:cNvSpPr>
            <a:spLocks noGrp="1"/>
          </p:cNvSpPr>
          <p:nvPr>
            <p:ph sz="quarter" idx="13"/>
          </p:nvPr>
        </p:nvSpPr>
        <p:spPr/>
        <p:txBody>
          <a:bodyPr>
            <a:normAutofit/>
          </a:bodyPr>
          <a:lstStyle/>
          <a:p>
            <a:pPr marL="0" indent="0">
              <a:buNone/>
            </a:pPr>
            <a:r>
              <a:rPr lang="en-US" sz="2400" dirty="0"/>
              <a:t>Two basic requirements for a FOIA request: </a:t>
            </a:r>
          </a:p>
          <a:p>
            <a:r>
              <a:rPr lang="en-US" sz="2400" dirty="0"/>
              <a:t>The request must not require wide-ranging, unreasonable, or burdensome searches for records</a:t>
            </a:r>
          </a:p>
          <a:p>
            <a:r>
              <a:rPr lang="en-US" sz="2400" dirty="0"/>
              <a:t>The request must be made according to procedural regulations published in the Federal Register</a:t>
            </a:r>
          </a:p>
        </p:txBody>
      </p:sp>
    </p:spTree>
    <p:extLst>
      <p:ext uri="{BB962C8B-B14F-4D97-AF65-F5344CB8AC3E}">
        <p14:creationId xmlns:p14="http://schemas.microsoft.com/office/powerpoint/2010/main" val="9334493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962DC0-0790-41B6-BE6C-449DCA5AC131}"/>
              </a:ext>
            </a:extLst>
          </p:cNvPr>
          <p:cNvSpPr>
            <a:spLocks noGrp="1"/>
          </p:cNvSpPr>
          <p:nvPr>
            <p:ph type="title"/>
          </p:nvPr>
        </p:nvSpPr>
        <p:spPr/>
        <p:txBody>
          <a:bodyPr>
            <a:normAutofit/>
          </a:bodyPr>
          <a:lstStyle/>
          <a:p>
            <a:r>
              <a:rPr lang="en-US" dirty="0"/>
              <a:t>Privacy act (1974)</a:t>
            </a:r>
          </a:p>
        </p:txBody>
      </p:sp>
      <p:sp>
        <p:nvSpPr>
          <p:cNvPr id="3" name="Content Placeholder 2">
            <a:extLst>
              <a:ext uri="{FF2B5EF4-FFF2-40B4-BE49-F238E27FC236}">
                <a16:creationId xmlns:a16="http://schemas.microsoft.com/office/drawing/2014/main" id="{0CFF2EF1-5681-4EB6-87AF-A5F3AE624D24}"/>
              </a:ext>
            </a:extLst>
          </p:cNvPr>
          <p:cNvSpPr>
            <a:spLocks noGrp="1"/>
          </p:cNvSpPr>
          <p:nvPr>
            <p:ph sz="quarter" idx="13"/>
          </p:nvPr>
        </p:nvSpPr>
        <p:spPr/>
        <p:txBody>
          <a:bodyPr>
            <a:normAutofit/>
          </a:bodyPr>
          <a:lstStyle/>
          <a:p>
            <a:r>
              <a:rPr lang="en-US" sz="2400" dirty="0"/>
              <a:t>Prohibits U.S. government agencies from concealing the existence of any personal data record-keeping system</a:t>
            </a:r>
          </a:p>
        </p:txBody>
      </p:sp>
    </p:spTree>
    <p:extLst>
      <p:ext uri="{BB962C8B-B14F-4D97-AF65-F5344CB8AC3E}">
        <p14:creationId xmlns:p14="http://schemas.microsoft.com/office/powerpoint/2010/main" val="28827315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E6DE58-A670-462A-8B7C-70FD570F86D0}"/>
              </a:ext>
            </a:extLst>
          </p:cNvPr>
          <p:cNvSpPr>
            <a:spLocks noGrp="1"/>
          </p:cNvSpPr>
          <p:nvPr>
            <p:ph type="title"/>
          </p:nvPr>
        </p:nvSpPr>
        <p:spPr/>
        <p:txBody>
          <a:bodyPr/>
          <a:lstStyle/>
          <a:p>
            <a:r>
              <a:rPr lang="en-US" dirty="0"/>
              <a:t>key privacy and anonymity issues</a:t>
            </a:r>
          </a:p>
        </p:txBody>
      </p:sp>
      <p:sp>
        <p:nvSpPr>
          <p:cNvPr id="3" name="Content Placeholder 2">
            <a:extLst>
              <a:ext uri="{FF2B5EF4-FFF2-40B4-BE49-F238E27FC236}">
                <a16:creationId xmlns:a16="http://schemas.microsoft.com/office/drawing/2014/main" id="{462342BD-9DC3-4765-93FB-02CC6F304BFF}"/>
              </a:ext>
            </a:extLst>
          </p:cNvPr>
          <p:cNvSpPr>
            <a:spLocks noGrp="1"/>
          </p:cNvSpPr>
          <p:nvPr>
            <p:ph sz="quarter" idx="13"/>
          </p:nvPr>
        </p:nvSpPr>
        <p:spPr/>
        <p:txBody>
          <a:bodyPr>
            <a:normAutofit/>
          </a:bodyPr>
          <a:lstStyle/>
          <a:p>
            <a:r>
              <a:rPr lang="en-US" sz="2400" dirty="0"/>
              <a:t>consumer profiling</a:t>
            </a:r>
          </a:p>
          <a:p>
            <a:r>
              <a:rPr lang="en-US" sz="2400" dirty="0"/>
              <a:t>electronic discovery</a:t>
            </a:r>
          </a:p>
          <a:p>
            <a:r>
              <a:rPr lang="en-US" sz="2400" dirty="0"/>
              <a:t>workplace monitoring</a:t>
            </a:r>
          </a:p>
          <a:p>
            <a:r>
              <a:rPr lang="en-US" sz="2400" dirty="0"/>
              <a:t>advanced surveillance technology</a:t>
            </a:r>
          </a:p>
        </p:txBody>
      </p:sp>
    </p:spTree>
    <p:extLst>
      <p:ext uri="{BB962C8B-B14F-4D97-AF65-F5344CB8AC3E}">
        <p14:creationId xmlns:p14="http://schemas.microsoft.com/office/powerpoint/2010/main" val="408482072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2D6CFF-C40B-42B3-8FC7-F5AB67A2D6EB}"/>
              </a:ext>
            </a:extLst>
          </p:cNvPr>
          <p:cNvSpPr>
            <a:spLocks noGrp="1"/>
          </p:cNvSpPr>
          <p:nvPr>
            <p:ph type="title"/>
          </p:nvPr>
        </p:nvSpPr>
        <p:spPr/>
        <p:txBody>
          <a:bodyPr/>
          <a:lstStyle/>
          <a:p>
            <a:r>
              <a:rPr lang="en-US" dirty="0"/>
              <a:t>key privacy and anonymity issues:</a:t>
            </a:r>
            <a:br>
              <a:rPr lang="en-US" dirty="0"/>
            </a:br>
            <a:r>
              <a:rPr lang="en-US" dirty="0"/>
              <a:t>consumer profiling</a:t>
            </a:r>
          </a:p>
        </p:txBody>
      </p:sp>
      <p:sp>
        <p:nvSpPr>
          <p:cNvPr id="3" name="Content Placeholder 2">
            <a:extLst>
              <a:ext uri="{FF2B5EF4-FFF2-40B4-BE49-F238E27FC236}">
                <a16:creationId xmlns:a16="http://schemas.microsoft.com/office/drawing/2014/main" id="{82330DE5-DA5D-46B1-A990-54C52939DAC3}"/>
              </a:ext>
            </a:extLst>
          </p:cNvPr>
          <p:cNvSpPr>
            <a:spLocks noGrp="1"/>
          </p:cNvSpPr>
          <p:nvPr>
            <p:ph sz="quarter" idx="13"/>
          </p:nvPr>
        </p:nvSpPr>
        <p:spPr/>
        <p:txBody>
          <a:bodyPr>
            <a:normAutofit/>
          </a:bodyPr>
          <a:lstStyle/>
          <a:p>
            <a:r>
              <a:rPr lang="en-US" altLang="en-US" sz="2400" b="1" dirty="0"/>
              <a:t>Voluntary methods</a:t>
            </a:r>
            <a:r>
              <a:rPr lang="en-US" altLang="en-US" sz="2400" dirty="0"/>
              <a:t>: Website registrations, survey, contests, and social media</a:t>
            </a:r>
          </a:p>
          <a:p>
            <a:r>
              <a:rPr lang="en-US" sz="2400" b="1" dirty="0"/>
              <a:t>Cookies</a:t>
            </a:r>
          </a:p>
          <a:p>
            <a:r>
              <a:rPr lang="en-US" sz="2400" b="1" dirty="0"/>
              <a:t>Tracking software</a:t>
            </a:r>
          </a:p>
        </p:txBody>
      </p:sp>
    </p:spTree>
    <p:extLst>
      <p:ext uri="{BB962C8B-B14F-4D97-AF65-F5344CB8AC3E}">
        <p14:creationId xmlns:p14="http://schemas.microsoft.com/office/powerpoint/2010/main" val="21278842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0D475-5BF4-4AF2-B48E-0AD0AEA907D5}"/>
              </a:ext>
            </a:extLst>
          </p:cNvPr>
          <p:cNvSpPr>
            <a:spLocks noGrp="1"/>
          </p:cNvSpPr>
          <p:nvPr>
            <p:ph type="title"/>
          </p:nvPr>
        </p:nvSpPr>
        <p:spPr/>
        <p:txBody>
          <a:bodyPr/>
          <a:lstStyle/>
          <a:p>
            <a:r>
              <a:rPr lang="en-US" dirty="0"/>
              <a:t>key privacy and anonymity issues:</a:t>
            </a:r>
            <a:br>
              <a:rPr lang="en-US" dirty="0"/>
            </a:br>
            <a:r>
              <a:rPr lang="en-US" dirty="0"/>
              <a:t>consumer profiling</a:t>
            </a:r>
          </a:p>
        </p:txBody>
      </p:sp>
      <p:sp>
        <p:nvSpPr>
          <p:cNvPr id="3" name="Content Placeholder 2">
            <a:extLst>
              <a:ext uri="{FF2B5EF4-FFF2-40B4-BE49-F238E27FC236}">
                <a16:creationId xmlns:a16="http://schemas.microsoft.com/office/drawing/2014/main" id="{15D9594F-5518-4FBD-991A-9CD5B8BBCD1D}"/>
              </a:ext>
            </a:extLst>
          </p:cNvPr>
          <p:cNvSpPr>
            <a:spLocks noGrp="1"/>
          </p:cNvSpPr>
          <p:nvPr>
            <p:ph sz="quarter" idx="13"/>
          </p:nvPr>
        </p:nvSpPr>
        <p:spPr/>
        <p:txBody>
          <a:bodyPr/>
          <a:lstStyle/>
          <a:p>
            <a:pPr marL="0" indent="0">
              <a:buNone/>
            </a:pPr>
            <a:r>
              <a:rPr lang="en-US" b="1" dirty="0"/>
              <a:t>Criticisms of consumer profiling:</a:t>
            </a:r>
          </a:p>
          <a:p>
            <a:r>
              <a:rPr lang="en-US" dirty="0"/>
              <a:t>Personal data may be gathered and sold to other companies without the permission of consumers who provide the data</a:t>
            </a:r>
          </a:p>
          <a:p>
            <a:r>
              <a:rPr lang="en-US" dirty="0"/>
              <a:t>Risk of a data breach: The unintended release of sensitive data or the access of sensitive data (e.g., credit card numbers or Social Security numbers) by unauthorized individuals</a:t>
            </a:r>
          </a:p>
          <a:p>
            <a:r>
              <a:rPr lang="en-US" dirty="0"/>
              <a:t>Risk of identity theft: The theft of personal information, which is then used without the owner’s permission—often to commit fraud or other crimes</a:t>
            </a:r>
          </a:p>
          <a:p>
            <a:endParaRPr lang="en-US" dirty="0"/>
          </a:p>
        </p:txBody>
      </p:sp>
    </p:spTree>
    <p:extLst>
      <p:ext uri="{BB962C8B-B14F-4D97-AF65-F5344CB8AC3E}">
        <p14:creationId xmlns:p14="http://schemas.microsoft.com/office/powerpoint/2010/main" val="304945913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2D6CFF-C40B-42B3-8FC7-F5AB67A2D6EB}"/>
              </a:ext>
            </a:extLst>
          </p:cNvPr>
          <p:cNvSpPr>
            <a:spLocks noGrp="1"/>
          </p:cNvSpPr>
          <p:nvPr>
            <p:ph type="title"/>
          </p:nvPr>
        </p:nvSpPr>
        <p:spPr/>
        <p:txBody>
          <a:bodyPr/>
          <a:lstStyle/>
          <a:p>
            <a:r>
              <a:rPr lang="en-US" dirty="0"/>
              <a:t>key privacy and anonymity issues:</a:t>
            </a:r>
            <a:br>
              <a:rPr lang="en-US" dirty="0"/>
            </a:br>
            <a:r>
              <a:rPr lang="en-US" dirty="0"/>
              <a:t>electronic discovery</a:t>
            </a:r>
          </a:p>
        </p:txBody>
      </p:sp>
      <p:sp>
        <p:nvSpPr>
          <p:cNvPr id="3" name="Content Placeholder 2">
            <a:extLst>
              <a:ext uri="{FF2B5EF4-FFF2-40B4-BE49-F238E27FC236}">
                <a16:creationId xmlns:a16="http://schemas.microsoft.com/office/drawing/2014/main" id="{82330DE5-DA5D-46B1-A990-54C52939DAC3}"/>
              </a:ext>
            </a:extLst>
          </p:cNvPr>
          <p:cNvSpPr>
            <a:spLocks noGrp="1"/>
          </p:cNvSpPr>
          <p:nvPr>
            <p:ph sz="quarter" idx="13"/>
          </p:nvPr>
        </p:nvSpPr>
        <p:spPr/>
        <p:txBody>
          <a:bodyPr>
            <a:normAutofit/>
          </a:bodyPr>
          <a:lstStyle/>
          <a:p>
            <a:r>
              <a:rPr lang="en-US" sz="2400" b="1" dirty="0"/>
              <a:t>Electronic discovery (e-discovery)</a:t>
            </a:r>
          </a:p>
          <a:p>
            <a:r>
              <a:rPr lang="en-US" sz="2400" b="1" dirty="0"/>
              <a:t>Electronically stored information</a:t>
            </a:r>
          </a:p>
          <a:p>
            <a:r>
              <a:rPr lang="en-US" sz="2400" b="1" dirty="0"/>
              <a:t>Predictive coding</a:t>
            </a:r>
          </a:p>
        </p:txBody>
      </p:sp>
    </p:spTree>
    <p:extLst>
      <p:ext uri="{BB962C8B-B14F-4D97-AF65-F5344CB8AC3E}">
        <p14:creationId xmlns:p14="http://schemas.microsoft.com/office/powerpoint/2010/main" val="29339781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2D6CFF-C40B-42B3-8FC7-F5AB67A2D6EB}"/>
              </a:ext>
            </a:extLst>
          </p:cNvPr>
          <p:cNvSpPr>
            <a:spLocks noGrp="1"/>
          </p:cNvSpPr>
          <p:nvPr>
            <p:ph type="title"/>
          </p:nvPr>
        </p:nvSpPr>
        <p:spPr/>
        <p:txBody>
          <a:bodyPr/>
          <a:lstStyle/>
          <a:p>
            <a:r>
              <a:rPr lang="en-US" dirty="0"/>
              <a:t>key privacy and anonymity issues:</a:t>
            </a:r>
            <a:br>
              <a:rPr lang="en-US" dirty="0"/>
            </a:br>
            <a:r>
              <a:rPr lang="en-US" dirty="0"/>
              <a:t>workplace monitoring</a:t>
            </a:r>
          </a:p>
        </p:txBody>
      </p:sp>
      <p:sp>
        <p:nvSpPr>
          <p:cNvPr id="3" name="Content Placeholder 2">
            <a:extLst>
              <a:ext uri="{FF2B5EF4-FFF2-40B4-BE49-F238E27FC236}">
                <a16:creationId xmlns:a16="http://schemas.microsoft.com/office/drawing/2014/main" id="{82330DE5-DA5D-46B1-A990-54C52939DAC3}"/>
              </a:ext>
            </a:extLst>
          </p:cNvPr>
          <p:cNvSpPr>
            <a:spLocks noGrp="1"/>
          </p:cNvSpPr>
          <p:nvPr>
            <p:ph sz="quarter" idx="13"/>
          </p:nvPr>
        </p:nvSpPr>
        <p:spPr/>
        <p:txBody>
          <a:bodyPr>
            <a:normAutofit/>
          </a:bodyPr>
          <a:lstStyle/>
          <a:p>
            <a:pPr marL="0" indent="0">
              <a:buNone/>
            </a:pPr>
            <a:r>
              <a:rPr lang="en-US" sz="2400" b="1" dirty="0"/>
              <a:t>Cyber loafing</a:t>
            </a:r>
          </a:p>
          <a:p>
            <a:r>
              <a:rPr lang="en-US" sz="2400" dirty="0"/>
              <a:t>Private employers may legally monitor employees’ use of any employer-provided mobile phone or computing device</a:t>
            </a:r>
          </a:p>
          <a:p>
            <a:r>
              <a:rPr lang="en-US" sz="2400" dirty="0"/>
              <a:t>The Fourth Amendment does not limit how a private employer treats its employees</a:t>
            </a:r>
          </a:p>
          <a:p>
            <a:r>
              <a:rPr lang="en-US" sz="2400" dirty="0"/>
              <a:t>State privacy statutes tend to favor employers over employees</a:t>
            </a:r>
          </a:p>
          <a:p>
            <a:endParaRPr lang="en-US" sz="2400" dirty="0"/>
          </a:p>
        </p:txBody>
      </p:sp>
    </p:spTree>
    <p:extLst>
      <p:ext uri="{BB962C8B-B14F-4D97-AF65-F5344CB8AC3E}">
        <p14:creationId xmlns:p14="http://schemas.microsoft.com/office/powerpoint/2010/main" val="143662266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2D6CFF-C40B-42B3-8FC7-F5AB67A2D6EB}"/>
              </a:ext>
            </a:extLst>
          </p:cNvPr>
          <p:cNvSpPr>
            <a:spLocks noGrp="1"/>
          </p:cNvSpPr>
          <p:nvPr>
            <p:ph type="title"/>
          </p:nvPr>
        </p:nvSpPr>
        <p:spPr/>
        <p:txBody>
          <a:bodyPr/>
          <a:lstStyle/>
          <a:p>
            <a:r>
              <a:rPr lang="en-US" dirty="0"/>
              <a:t>key privacy and anonymity issues:</a:t>
            </a:r>
            <a:br>
              <a:rPr lang="en-US" dirty="0"/>
            </a:br>
            <a:r>
              <a:rPr lang="en-US" dirty="0"/>
              <a:t>Advanced surveillance technology</a:t>
            </a:r>
          </a:p>
        </p:txBody>
      </p:sp>
      <p:sp>
        <p:nvSpPr>
          <p:cNvPr id="3" name="Content Placeholder 2">
            <a:extLst>
              <a:ext uri="{FF2B5EF4-FFF2-40B4-BE49-F238E27FC236}">
                <a16:creationId xmlns:a16="http://schemas.microsoft.com/office/drawing/2014/main" id="{82330DE5-DA5D-46B1-A990-54C52939DAC3}"/>
              </a:ext>
            </a:extLst>
          </p:cNvPr>
          <p:cNvSpPr>
            <a:spLocks noGrp="1"/>
          </p:cNvSpPr>
          <p:nvPr>
            <p:ph sz="quarter" idx="13"/>
          </p:nvPr>
        </p:nvSpPr>
        <p:spPr/>
        <p:txBody>
          <a:bodyPr>
            <a:normAutofit/>
          </a:bodyPr>
          <a:lstStyle/>
          <a:p>
            <a:pPr marL="0" indent="0">
              <a:buNone/>
            </a:pPr>
            <a:r>
              <a:rPr lang="en-US" sz="2400" b="1" dirty="0"/>
              <a:t>Camera surveillance</a:t>
            </a:r>
          </a:p>
          <a:p>
            <a:r>
              <a:rPr lang="en-US" sz="2400" dirty="0"/>
              <a:t>Used in major cities around the world to deter crime and terrorist activities</a:t>
            </a:r>
          </a:p>
          <a:p>
            <a:r>
              <a:rPr lang="en-US" sz="2400" dirty="0"/>
              <a:t>Criticism: Such scrutiny is a violation of civil liberties and the cost of the equipment and people required to monitor the video feeds is excessive</a:t>
            </a:r>
          </a:p>
        </p:txBody>
      </p:sp>
    </p:spTree>
    <p:extLst>
      <p:ext uri="{BB962C8B-B14F-4D97-AF65-F5344CB8AC3E}">
        <p14:creationId xmlns:p14="http://schemas.microsoft.com/office/powerpoint/2010/main" val="106924860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2D6CFF-C40B-42B3-8FC7-F5AB67A2D6EB}"/>
              </a:ext>
            </a:extLst>
          </p:cNvPr>
          <p:cNvSpPr>
            <a:spLocks noGrp="1"/>
          </p:cNvSpPr>
          <p:nvPr>
            <p:ph type="title"/>
          </p:nvPr>
        </p:nvSpPr>
        <p:spPr/>
        <p:txBody>
          <a:bodyPr/>
          <a:lstStyle/>
          <a:p>
            <a:r>
              <a:rPr lang="en-US" dirty="0"/>
              <a:t>key privacy and anonymity issues:</a:t>
            </a:r>
            <a:br>
              <a:rPr lang="en-US" dirty="0"/>
            </a:br>
            <a:r>
              <a:rPr lang="en-US" dirty="0"/>
              <a:t>Advanced surveillance technology</a:t>
            </a:r>
          </a:p>
        </p:txBody>
      </p:sp>
      <p:sp>
        <p:nvSpPr>
          <p:cNvPr id="3" name="Content Placeholder 2">
            <a:extLst>
              <a:ext uri="{FF2B5EF4-FFF2-40B4-BE49-F238E27FC236}">
                <a16:creationId xmlns:a16="http://schemas.microsoft.com/office/drawing/2014/main" id="{82330DE5-DA5D-46B1-A990-54C52939DAC3}"/>
              </a:ext>
            </a:extLst>
          </p:cNvPr>
          <p:cNvSpPr>
            <a:spLocks noGrp="1"/>
          </p:cNvSpPr>
          <p:nvPr>
            <p:ph sz="quarter" idx="13"/>
          </p:nvPr>
        </p:nvSpPr>
        <p:spPr/>
        <p:txBody>
          <a:bodyPr>
            <a:normAutofit/>
          </a:bodyPr>
          <a:lstStyle/>
          <a:p>
            <a:pPr marL="0" indent="0">
              <a:buNone/>
            </a:pPr>
            <a:r>
              <a:rPr lang="en-US" sz="2400" b="1" dirty="0"/>
              <a:t>Vehicle event data recorder</a:t>
            </a:r>
          </a:p>
          <a:p>
            <a:r>
              <a:rPr lang="en-US" sz="2400" dirty="0"/>
              <a:t>Purposes: </a:t>
            </a:r>
          </a:p>
          <a:p>
            <a:r>
              <a:rPr lang="en-US" sz="2400" dirty="0"/>
              <a:t>To capture and record data to make changes to improve vehicle performance</a:t>
            </a:r>
          </a:p>
          <a:p>
            <a:r>
              <a:rPr lang="en-US" sz="2400" dirty="0"/>
              <a:t>For use in a court of law to determine what happened during a vehicle accident</a:t>
            </a:r>
          </a:p>
          <a:p>
            <a:endParaRPr lang="en-US" sz="2400" dirty="0"/>
          </a:p>
        </p:txBody>
      </p:sp>
    </p:spTree>
    <p:extLst>
      <p:ext uri="{BB962C8B-B14F-4D97-AF65-F5344CB8AC3E}">
        <p14:creationId xmlns:p14="http://schemas.microsoft.com/office/powerpoint/2010/main" val="80162625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2D6CFF-C40B-42B3-8FC7-F5AB67A2D6EB}"/>
              </a:ext>
            </a:extLst>
          </p:cNvPr>
          <p:cNvSpPr>
            <a:spLocks noGrp="1"/>
          </p:cNvSpPr>
          <p:nvPr>
            <p:ph type="title"/>
          </p:nvPr>
        </p:nvSpPr>
        <p:spPr/>
        <p:txBody>
          <a:bodyPr/>
          <a:lstStyle/>
          <a:p>
            <a:r>
              <a:rPr lang="en-US" dirty="0"/>
              <a:t>key privacy and anonymity issues:</a:t>
            </a:r>
            <a:br>
              <a:rPr lang="en-US" dirty="0"/>
            </a:br>
            <a:r>
              <a:rPr lang="en-US" dirty="0"/>
              <a:t>Advanced surveillance technology</a:t>
            </a:r>
          </a:p>
        </p:txBody>
      </p:sp>
      <p:sp>
        <p:nvSpPr>
          <p:cNvPr id="3" name="Content Placeholder 2">
            <a:extLst>
              <a:ext uri="{FF2B5EF4-FFF2-40B4-BE49-F238E27FC236}">
                <a16:creationId xmlns:a16="http://schemas.microsoft.com/office/drawing/2014/main" id="{82330DE5-DA5D-46B1-A990-54C52939DAC3}"/>
              </a:ext>
            </a:extLst>
          </p:cNvPr>
          <p:cNvSpPr>
            <a:spLocks noGrp="1"/>
          </p:cNvSpPr>
          <p:nvPr>
            <p:ph sz="quarter" idx="13"/>
          </p:nvPr>
        </p:nvSpPr>
        <p:spPr/>
        <p:txBody>
          <a:bodyPr>
            <a:normAutofit/>
          </a:bodyPr>
          <a:lstStyle/>
          <a:p>
            <a:pPr marL="0" indent="0">
              <a:buNone/>
            </a:pPr>
            <a:r>
              <a:rPr lang="en-US" sz="2400" b="1" dirty="0"/>
              <a:t>Stalking app</a:t>
            </a:r>
          </a:p>
          <a:p>
            <a:r>
              <a:rPr lang="en-US" sz="2400" dirty="0"/>
              <a:t>Performs location tracking, records calls, views text messages sent or received, and records the URLs of any website visited on the phone</a:t>
            </a:r>
          </a:p>
          <a:p>
            <a:r>
              <a:rPr lang="en-US" sz="2400" dirty="0"/>
              <a:t>Illegal to install the software on a phone without the permission of the phone owner</a:t>
            </a:r>
          </a:p>
          <a:p>
            <a:endParaRPr lang="en-US" sz="2400" dirty="0"/>
          </a:p>
        </p:txBody>
      </p:sp>
    </p:spTree>
    <p:extLst>
      <p:ext uri="{BB962C8B-B14F-4D97-AF65-F5344CB8AC3E}">
        <p14:creationId xmlns:p14="http://schemas.microsoft.com/office/powerpoint/2010/main" val="302363582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828A7C-9646-4983-B226-C4D8A5F3B5E8}"/>
              </a:ext>
            </a:extLst>
          </p:cNvPr>
          <p:cNvSpPr>
            <a:spLocks noGrp="1"/>
          </p:cNvSpPr>
          <p:nvPr>
            <p:ph type="title"/>
          </p:nvPr>
        </p:nvSpPr>
        <p:spPr>
          <a:xfrm>
            <a:off x="920124" y="1411660"/>
            <a:ext cx="10351752" cy="2736819"/>
          </a:xfrm>
        </p:spPr>
        <p:txBody>
          <a:bodyPr>
            <a:normAutofit/>
          </a:bodyPr>
          <a:lstStyle/>
          <a:p>
            <a:r>
              <a:rPr lang="en-US" sz="9600" dirty="0"/>
              <a:t>questions</a:t>
            </a:r>
          </a:p>
        </p:txBody>
      </p:sp>
    </p:spTree>
    <p:extLst>
      <p:ext uri="{BB962C8B-B14F-4D97-AF65-F5344CB8AC3E}">
        <p14:creationId xmlns:p14="http://schemas.microsoft.com/office/powerpoint/2010/main" val="2867508957"/>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TM04033925[[fn=Droplet]]</Template>
  <TotalTime>378</TotalTime>
  <Words>2648</Words>
  <Application>Microsoft Office PowerPoint</Application>
  <PresentationFormat>Widescreen</PresentationFormat>
  <Paragraphs>284</Paragraphs>
  <Slides>44</Slides>
  <Notes>33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44</vt:i4>
      </vt:variant>
    </vt:vector>
  </HeadingPairs>
  <TitlesOfParts>
    <vt:vector size="48" baseType="lpstr">
      <vt:lpstr>Arial</vt:lpstr>
      <vt:lpstr>Calibri</vt:lpstr>
      <vt:lpstr>Tw Cen MT</vt:lpstr>
      <vt:lpstr>Droplet</vt:lpstr>
      <vt:lpstr>Privacy Chapter 4</vt:lpstr>
      <vt:lpstr>Privacy</vt:lpstr>
      <vt:lpstr>Basis for the collection of data</vt:lpstr>
      <vt:lpstr>privacy laws, applications and court rulings</vt:lpstr>
      <vt:lpstr>privacy laws, applications and court rulings: Financial data</vt:lpstr>
      <vt:lpstr>Fair credit reporting act(1970)</vt:lpstr>
      <vt:lpstr>Right to financial privacy act (1978)</vt:lpstr>
      <vt:lpstr>Gramm-leach-Bliley act (1999)</vt:lpstr>
      <vt:lpstr>Fair and accurate credit transactions act (2003)</vt:lpstr>
      <vt:lpstr>privacy laws, applications and court rulings: Health information</vt:lpstr>
      <vt:lpstr>Health insurance portability and accountability act (19996)</vt:lpstr>
      <vt:lpstr>The American recovery and reinvestment act (2009)</vt:lpstr>
      <vt:lpstr>privacy laws, applications and court rulings: children’s personal data</vt:lpstr>
      <vt:lpstr>Family educational rights and privacy act (1974)</vt:lpstr>
      <vt:lpstr>Children’s online privacy protection act (1998)</vt:lpstr>
      <vt:lpstr>privacy laws, applications and court rulings: electronic surveillance</vt:lpstr>
      <vt:lpstr>Title 111 of the omnibus crime control and safe streets act 1968</vt:lpstr>
      <vt:lpstr>The foreign intelligence surveillance act 1978</vt:lpstr>
      <vt:lpstr>Executive order 12333 1981</vt:lpstr>
      <vt:lpstr>Electronic communications privacy act 1986</vt:lpstr>
      <vt:lpstr>Electronic communications privacy act 1986</vt:lpstr>
      <vt:lpstr>Communications assistance for law enforcement 1994</vt:lpstr>
      <vt:lpstr>USA patriot act 2001</vt:lpstr>
      <vt:lpstr>Foreign intelligence surveillance act amendment 2004</vt:lpstr>
      <vt:lpstr>Foreign intelligence surveillance act amendment 2008</vt:lpstr>
      <vt:lpstr>Patriot extension act 2011</vt:lpstr>
      <vt:lpstr>USA freedom act 2015</vt:lpstr>
      <vt:lpstr>privacy laws, applications and court rulings: fair information practices</vt:lpstr>
      <vt:lpstr>Organization for economic co-operation and development for the protection of privacy and transborder flows of personal data (1980)</vt:lpstr>
      <vt:lpstr>European union data protection directive (1995)</vt:lpstr>
      <vt:lpstr>European-united states privacy shield data transfer program guidelines</vt:lpstr>
      <vt:lpstr>General data protection regulation</vt:lpstr>
      <vt:lpstr>privacy laws, applications and court rulings: access to government records</vt:lpstr>
      <vt:lpstr>Freedom of information act (1966 amended 1974)</vt:lpstr>
      <vt:lpstr>Privacy act (1974)</vt:lpstr>
      <vt:lpstr>key privacy and anonymity issues</vt:lpstr>
      <vt:lpstr>key privacy and anonymity issues: consumer profiling</vt:lpstr>
      <vt:lpstr>key privacy and anonymity issues: consumer profiling</vt:lpstr>
      <vt:lpstr>key privacy and anonymity issues: electronic discovery</vt:lpstr>
      <vt:lpstr>key privacy and anonymity issues: workplace monitoring</vt:lpstr>
      <vt:lpstr>key privacy and anonymity issues: Advanced surveillance technology</vt:lpstr>
      <vt:lpstr>key privacy and anonymity issues: Advanced surveillance technology</vt:lpstr>
      <vt:lpstr>key privacy and anonymity issues: Advanced surveillance technology</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Privacy Chapter 4 Ethics in Information Technology</dc:title>
  <dc:creator>agape</dc:creator>
  <cp:lastModifiedBy> </cp:lastModifiedBy>
  <cp:revision>34</cp:revision>
  <dcterms:created xsi:type="dcterms:W3CDTF">2019-09-12T15:11:51Z</dcterms:created>
  <dcterms:modified xsi:type="dcterms:W3CDTF">2019-09-17T07:16:37Z</dcterms:modified>
</cp:coreProperties>
</file>